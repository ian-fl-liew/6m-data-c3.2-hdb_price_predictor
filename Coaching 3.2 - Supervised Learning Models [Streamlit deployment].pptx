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Consolas" panose="020B0609020204030204" pitchFamily="49" charset="0"/>
      <p:regular r:id="rId32"/>
      <p:bold r:id="rId33"/>
      <p:italic r:id="rId34"/>
      <p:boldItalic r:id="rId35"/>
    </p:embeddedFont>
    <p:embeddedFont>
      <p:font typeface="Open Sans" panose="020F0502020204030204" pitchFamily="34" charset="0"/>
      <p:regular r:id="rId36"/>
      <p:bold r:id="rId37"/>
      <p:italic r:id="rId38"/>
      <p:boldItalic r:id="rId39"/>
    </p:embeddedFont>
    <p:embeddedFont>
      <p:font typeface="Open Sans Light" panose="020F050202020403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59">
          <p15:clr>
            <a:srgbClr val="747775"/>
          </p15:clr>
        </p15:guide>
        <p15:guide id="2" pos="5522">
          <p15:clr>
            <a:srgbClr val="747775"/>
          </p15:clr>
        </p15:guide>
        <p15:guide id="3" orient="horz" pos="764">
          <p15:clr>
            <a:srgbClr val="747775"/>
          </p15:clr>
        </p15:guide>
        <p15:guide id="4" orient="horz" pos="2478">
          <p15:clr>
            <a:srgbClr val="747775"/>
          </p15:clr>
        </p15:guide>
        <p15:guide id="5" orient="horz" pos="2615">
          <p15:clr>
            <a:srgbClr val="747775"/>
          </p15:clr>
        </p15:guide>
        <p15:guide id="6" orient="horz" pos="3023">
          <p15:clr>
            <a:srgbClr val="747775"/>
          </p15:clr>
        </p15:guide>
        <p15:guide id="7" pos="1813">
          <p15:clr>
            <a:srgbClr val="747775"/>
          </p15:clr>
        </p15:guide>
        <p15:guide id="8" pos="1950">
          <p15:clr>
            <a:srgbClr val="747775"/>
          </p15:clr>
        </p15:guide>
        <p15:guide id="9" pos="3652">
          <p15:clr>
            <a:srgbClr val="747775"/>
          </p15:clr>
        </p15:guide>
        <p15:guide id="10" pos="3794">
          <p15:clr>
            <a:srgbClr val="747775"/>
          </p15:clr>
        </p15:guide>
        <p15:guide id="11"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4B10DC-2A97-4701-8D3A-C7F3630570D0}">
  <a:tblStyle styleId="{894B10DC-2A97-4701-8D3A-C7F3630570D0}"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66F92B1-14A3-4C47-8DC1-5A4DCF794B23}"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924" y="120"/>
      </p:cViewPr>
      <p:guideLst>
        <p:guide pos="259"/>
        <p:guide pos="5522"/>
        <p:guide orient="horz" pos="764"/>
        <p:guide orient="horz" pos="2478"/>
        <p:guide orient="horz" pos="2615"/>
        <p:guide orient="horz" pos="3023"/>
        <p:guide pos="1813"/>
        <p:guide pos="1950"/>
        <p:guide pos="3652"/>
        <p:guide pos="3794"/>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Welcome. Today we build a machine learning model that predicts HDB resale prices, compare three algorithms, and deploy the best one as a web app.</a:t>
            </a:r>
            <a:endParaRPr/>
          </a:p>
        </p:txBody>
      </p:sp>
      <p:sp>
        <p:nvSpPr>
          <p:cNvPr id="51" name="Google Shape;5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h57a6b7137697a0b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h57a6b7137697a0b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Module C3.1. Repo: https://github.com/flexfengfeng/6m-data-c3.2-HDB_price_predictor</a:t>
            </a:r>
            <a:endParaRPr/>
          </a:p>
        </p:txBody>
      </p:sp>
      <p:sp>
        <p:nvSpPr>
          <p:cNvPr id="68" name="Google Shape;6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Learners fork the repo, work through the notebook, run model.py to train and pick the best model, then deploy app.py on Streamlit Community Cloud.</a:t>
            </a:r>
            <a:endParaRPr/>
          </a:p>
        </p:txBody>
      </p:sp>
      <p:sp>
        <p:nvSpPr>
          <p:cNvPr id="74" name="Google Shape;7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Walk through the six stops. Emphasise that the point is not just to train one model, but to compare several fairly and justify which one we deploy.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Coefficients come from the notebook, Part 5 (floor_area_sqm ≈ 3,771, storey ≈ 4,790). Ask: does an extra sqm really add the same dollars in every town?</a:t>
            </a:r>
            <a:endParaRPr/>
          </a:p>
        </p:txBody>
      </p:sp>
      <p:sp>
        <p:nvSpPr>
          <p:cNvPr id="110" name="Google Shape;110;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Line of best fit: the model chooses b0 and b1 to minimise the squared vertical distances (errors) between the points and the line.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Quick recap: regression predicts a number, classification predicts a category. HDB price is a number, so all three of today's models are regressors.</a:t>
            </a:r>
            <a:endParaRPr/>
          </a:p>
        </p:txBody>
      </p:sp>
      <p:sp>
        <p:nvSpPr>
          <p:cNvPr id="127" name="Google Shape;127;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The tree on the right is illustrative, not our trained model. Point out how the second question depends on the first: that is an interaction a linear model cannot learn.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Random Forest = many independent trees averaged (bagging). Gradient Boosting = trees built in sequence, each correcting the last (boosting). All three are wrapped in the same Pipeline.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Baseline numbers come from the DummyRegressor cell in the notebook (Part 4.4). RMSE is in the same units as price but punishes large errors, which matter for expensive flats.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model.py uses KFold(n_splits=5, shuffle=True, random_state=42) and cross_validate. The test set is used exactly once, after the model is chosen.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Each row is one resale transaction. load_data() in hdb_features.py reads the local CSV and falls back to the original URL if the file is missing.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Show hdb_features.py: storey_midpoint() and add_features(). In the notebook, Part 4.2 prints the 36 encoded column names. handle_unknown='ignore' stops the app crashing on an unseen category.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Setup: conda create --name hdb_project python=3.12, then pip install -r requirements-dev.txt. Pause at the discussion questions at the end of Part 8.</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Numbers come straight from python model.py (also in README.md and models/model_card.json). Gradient Boosting is highlighted because it is the deployed model.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Discussion: accuracy is only one criterion. For a web app, file size, prediction speed and explainability also matter. model.py applies the CV RMSE rule automatically.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Run: python model.py (about 1 minute). It prints the comparison table and the chosen model. model_card.json stores every model's scores plus the towns, flat types and ranges the app needs.</a:t>
            </a:r>
            <a:endParaRPr/>
          </a:p>
        </p:txBody>
      </p:sp>
      <p:sp>
        <p:nvSpPr>
          <p:cNvPr id="287" name="Google Shape;287;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Key idea: column names and order must match training (FEATURES from hdb_features.py). The app opens at http://localhost:8501.</a:t>
            </a:r>
            <a:endParaRPr/>
          </a:p>
        </p:txBody>
      </p:sp>
      <p:sp>
        <p:nvSpPr>
          <p:cNvPr id="297" name="Google Shape;297;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Common failure: forgetting to push models/hdb_price_model.joblib and model_card.json. The app then shows 'No trained model found'. Troubleshooting table is in setup.md.</a:t>
            </a:r>
            <a:endParaRPr/>
          </a:p>
        </p:txBody>
      </p:sp>
      <p:sp>
        <p:nvSpPr>
          <p:cNvPr id="305" name="Google Shape;305;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These match the exercises at the end of hdb_price_model.ipynb. Exercise 4 needs the month column as a feature, or training on recent months only.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h57a6b7137697a0b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h57a6b7137697a0b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h57a6b7137697a0bd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h57a6b7137697a0bd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h57a6b7137697a0bd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h57a6b7137697a0b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h57a6b7137697a0bd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h57a6b7137697a0b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h57a6b7137697a0bd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h57a6b7137697a0b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h57a6b7137697a0bd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h57a6b7137697a0b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h57a6b7137697a0bd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h57a6b7137697a0b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h57a6b7137697a0bd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h57a6b7137697a0b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sldNum" idx="12"/>
          </p:nvPr>
        </p:nvSpPr>
        <p:spPr>
          <a:xfrm>
            <a:off x="8175125" y="4616075"/>
            <a:ext cx="854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rmAutofit/>
          </a:bodyPr>
          <a:lstStyle>
            <a:lvl1pPr lvl="0" algn="ctr">
              <a:lnSpc>
                <a:spcPct val="115000"/>
              </a:lnSpc>
              <a:spcBef>
                <a:spcPts val="0"/>
              </a:spcBef>
              <a:spcAft>
                <a:spcPts val="0"/>
              </a:spcAft>
              <a:buClr>
                <a:schemeClr val="dk1"/>
              </a:buClr>
              <a:buSzPts val="18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ctr">
              <a:lnSpc>
                <a:spcPct val="115000"/>
              </a:lnSpc>
              <a:spcBef>
                <a:spcPts val="0"/>
              </a:spcBef>
              <a:spcAft>
                <a:spcPts val="0"/>
              </a:spcAft>
              <a:buSzPts val="1100"/>
              <a:buNone/>
              <a:defRPr/>
            </a:lvl6pPr>
            <a:lvl7pPr lvl="6" algn="ctr">
              <a:lnSpc>
                <a:spcPct val="115000"/>
              </a:lnSpc>
              <a:spcBef>
                <a:spcPts val="0"/>
              </a:spcBef>
              <a:spcAft>
                <a:spcPts val="0"/>
              </a:spcAft>
              <a:buSzPts val="1100"/>
              <a:buNone/>
              <a:defRPr/>
            </a:lvl7pPr>
            <a:lvl8pPr lvl="7" algn="ctr">
              <a:lnSpc>
                <a:spcPct val="115000"/>
              </a:lnSpc>
              <a:spcBef>
                <a:spcPts val="0"/>
              </a:spcBef>
              <a:spcAft>
                <a:spcPts val="0"/>
              </a:spcAft>
              <a:buSzPts val="1100"/>
              <a:buNone/>
              <a:defRPr/>
            </a:lvl8pPr>
            <a:lvl9pPr lvl="8" algn="ctr">
              <a:lnSpc>
                <a:spcPct val="115000"/>
              </a:lnSpc>
              <a:spcBef>
                <a:spcPts val="0"/>
              </a:spcBef>
              <a:spcAft>
                <a:spcPts val="0"/>
              </a:spcAft>
              <a:buSzPts val="1100"/>
              <a:buNone/>
              <a:defRPr/>
            </a:lvl9pPr>
          </a:lstStyle>
          <a:p>
            <a:endParaRPr/>
          </a:p>
        </p:txBody>
      </p:sp>
      <p:sp>
        <p:nvSpPr>
          <p:cNvPr id="15" name="Google Shape;15;p3"/>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rmAutofit/>
          </a:bodyPr>
          <a:lstStyle>
            <a:lvl1pPr lvl="0" algn="ctr">
              <a:lnSpc>
                <a:spcPct val="115000"/>
              </a:lnSpc>
              <a:spcBef>
                <a:spcPts val="640"/>
              </a:spcBef>
              <a:spcAft>
                <a:spcPts val="0"/>
              </a:spcAft>
              <a:buClr>
                <a:srgbClr val="888888"/>
              </a:buClr>
              <a:buSzPts val="3200"/>
              <a:buNone/>
              <a:defRPr>
                <a:solidFill>
                  <a:srgbClr val="888888"/>
                </a:solidFill>
              </a:defRPr>
            </a:lvl1pPr>
            <a:lvl2pPr lvl="1" algn="ctr">
              <a:lnSpc>
                <a:spcPct val="115000"/>
              </a:lnSpc>
              <a:spcBef>
                <a:spcPts val="1000"/>
              </a:spcBef>
              <a:spcAft>
                <a:spcPts val="0"/>
              </a:spcAft>
              <a:buClr>
                <a:srgbClr val="888888"/>
              </a:buClr>
              <a:buSzPts val="2800"/>
              <a:buNone/>
              <a:defRPr>
                <a:solidFill>
                  <a:srgbClr val="888888"/>
                </a:solidFill>
              </a:defRPr>
            </a:lvl2pPr>
            <a:lvl3pPr lvl="2" algn="ctr">
              <a:lnSpc>
                <a:spcPct val="115000"/>
              </a:lnSpc>
              <a:spcBef>
                <a:spcPts val="1000"/>
              </a:spcBef>
              <a:spcAft>
                <a:spcPts val="0"/>
              </a:spcAft>
              <a:buClr>
                <a:srgbClr val="888888"/>
              </a:buClr>
              <a:buSzPts val="2400"/>
              <a:buNone/>
              <a:defRPr>
                <a:solidFill>
                  <a:srgbClr val="888888"/>
                </a:solidFill>
              </a:defRPr>
            </a:lvl3pPr>
            <a:lvl4pPr lvl="3" algn="ctr">
              <a:lnSpc>
                <a:spcPct val="115000"/>
              </a:lnSpc>
              <a:spcBef>
                <a:spcPts val="1000"/>
              </a:spcBef>
              <a:spcAft>
                <a:spcPts val="0"/>
              </a:spcAft>
              <a:buClr>
                <a:srgbClr val="888888"/>
              </a:buClr>
              <a:buSzPts val="2000"/>
              <a:buNone/>
              <a:defRPr>
                <a:solidFill>
                  <a:srgbClr val="888888"/>
                </a:solidFill>
              </a:defRPr>
            </a:lvl4pPr>
            <a:lvl5pPr lvl="4" algn="ctr">
              <a:lnSpc>
                <a:spcPct val="115000"/>
              </a:lnSpc>
              <a:spcBef>
                <a:spcPts val="1000"/>
              </a:spcBef>
              <a:spcAft>
                <a:spcPts val="0"/>
              </a:spcAft>
              <a:buClr>
                <a:srgbClr val="888888"/>
              </a:buClr>
              <a:buSzPts val="2000"/>
              <a:buNone/>
              <a:defRPr>
                <a:solidFill>
                  <a:srgbClr val="888888"/>
                </a:solidFill>
              </a:defRPr>
            </a:lvl5pPr>
            <a:lvl6pPr lvl="5" algn="ctr">
              <a:lnSpc>
                <a:spcPct val="115000"/>
              </a:lnSpc>
              <a:spcBef>
                <a:spcPts val="1000"/>
              </a:spcBef>
              <a:spcAft>
                <a:spcPts val="0"/>
              </a:spcAft>
              <a:buClr>
                <a:srgbClr val="888888"/>
              </a:buClr>
              <a:buSzPts val="2000"/>
              <a:buNone/>
              <a:defRPr>
                <a:solidFill>
                  <a:srgbClr val="888888"/>
                </a:solidFill>
              </a:defRPr>
            </a:lvl6pPr>
            <a:lvl7pPr lvl="6" algn="ctr">
              <a:lnSpc>
                <a:spcPct val="115000"/>
              </a:lnSpc>
              <a:spcBef>
                <a:spcPts val="1000"/>
              </a:spcBef>
              <a:spcAft>
                <a:spcPts val="0"/>
              </a:spcAft>
              <a:buClr>
                <a:srgbClr val="888888"/>
              </a:buClr>
              <a:buSzPts val="2000"/>
              <a:buNone/>
              <a:defRPr>
                <a:solidFill>
                  <a:srgbClr val="888888"/>
                </a:solidFill>
              </a:defRPr>
            </a:lvl7pPr>
            <a:lvl8pPr lvl="7" algn="ctr">
              <a:lnSpc>
                <a:spcPct val="115000"/>
              </a:lnSpc>
              <a:spcBef>
                <a:spcPts val="1000"/>
              </a:spcBef>
              <a:spcAft>
                <a:spcPts val="0"/>
              </a:spcAft>
              <a:buClr>
                <a:srgbClr val="888888"/>
              </a:buClr>
              <a:buSzPts val="2000"/>
              <a:buNone/>
              <a:defRPr>
                <a:solidFill>
                  <a:srgbClr val="888888"/>
                </a:solidFill>
              </a:defRPr>
            </a:lvl8pPr>
            <a:lvl9pPr lvl="8" algn="ctr">
              <a:lnSpc>
                <a:spcPct val="115000"/>
              </a:lnSpc>
              <a:spcBef>
                <a:spcPts val="1000"/>
              </a:spcBef>
              <a:spcAft>
                <a:spcPts val="1000"/>
              </a:spcAft>
              <a:buClr>
                <a:srgbClr val="888888"/>
              </a:buClr>
              <a:buSzPts val="2000"/>
              <a:buNone/>
              <a:defRPr>
                <a:solidFill>
                  <a:srgbClr val="888888"/>
                </a:solidFill>
              </a:defRPr>
            </a:lvl9pPr>
          </a:lstStyle>
          <a:p>
            <a:endParaRPr/>
          </a:p>
        </p:txBody>
      </p:sp>
      <p:sp>
        <p:nvSpPr>
          <p:cNvPr id="16" name="Google Shape;16;p3"/>
          <p:cNvSpPr txBox="1">
            <a:spLocks noGrp="1"/>
          </p:cNvSpPr>
          <p:nvPr>
            <p:ph type="sldNum" idx="12"/>
          </p:nvPr>
        </p:nvSpPr>
        <p:spPr>
          <a:xfrm>
            <a:off x="7982222" y="4886307"/>
            <a:ext cx="704700" cy="273900"/>
          </a:xfrm>
          <a:prstGeom prst="rect">
            <a:avLst/>
          </a:prstGeom>
          <a:noFill/>
          <a:ln>
            <a:noFill/>
          </a:ln>
        </p:spPr>
        <p:txBody>
          <a:bodyPr spcFirstLastPara="1" wrap="square" lIns="91425" tIns="45700" rIns="91425" bIns="0" anchor="t"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76550" y="147875"/>
            <a:ext cx="8310000" cy="759900"/>
          </a:xfrm>
          <a:prstGeom prst="rect">
            <a:avLst/>
          </a:prstGeom>
          <a:noFill/>
          <a:ln>
            <a:noFill/>
          </a:ln>
        </p:spPr>
        <p:txBody>
          <a:bodyPr spcFirstLastPara="1" wrap="square" lIns="68575" tIns="34275" rIns="68575" bIns="34275" anchor="ctr" anchorCtr="0">
            <a:normAutofit/>
          </a:bodyPr>
          <a:lstStyle>
            <a:lvl1pPr lvl="0" algn="l">
              <a:lnSpc>
                <a:spcPct val="115000"/>
              </a:lnSpc>
              <a:spcBef>
                <a:spcPts val="0"/>
              </a:spcBef>
              <a:spcAft>
                <a:spcPts val="0"/>
              </a:spcAft>
              <a:buClr>
                <a:schemeClr val="dk1"/>
              </a:buClr>
              <a:buSzPts val="14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a:endParaRPr/>
          </a:p>
        </p:txBody>
      </p:sp>
      <p:sp>
        <p:nvSpPr>
          <p:cNvPr id="19" name="Google Shape;19;p4"/>
          <p:cNvSpPr txBox="1">
            <a:spLocks noGrp="1"/>
          </p:cNvSpPr>
          <p:nvPr>
            <p:ph type="body" idx="1"/>
          </p:nvPr>
        </p:nvSpPr>
        <p:spPr>
          <a:xfrm>
            <a:off x="376850" y="987925"/>
            <a:ext cx="8310000" cy="3607500"/>
          </a:xfrm>
          <a:prstGeom prst="rect">
            <a:avLst/>
          </a:prstGeom>
          <a:noFill/>
          <a:ln>
            <a:noFill/>
          </a:ln>
        </p:spPr>
        <p:txBody>
          <a:bodyPr spcFirstLastPara="1" wrap="square" lIns="68575" tIns="34275" rIns="68575" bIns="34275" anchor="t" anchorCtr="0">
            <a:normAutofit/>
          </a:bodyPr>
          <a:lstStyle>
            <a:lvl1pPr marL="457200" lvl="0" indent="-317500" algn="l">
              <a:lnSpc>
                <a:spcPct val="115000"/>
              </a:lnSpc>
              <a:spcBef>
                <a:spcPts val="0"/>
              </a:spcBef>
              <a:spcAft>
                <a:spcPts val="0"/>
              </a:spcAft>
              <a:buClr>
                <a:schemeClr val="dk1"/>
              </a:buClr>
              <a:buSzPts val="1400"/>
              <a:buChar char="•"/>
              <a:defRPr/>
            </a:lvl1pPr>
            <a:lvl2pPr marL="914400" lvl="1" indent="-317500" algn="l">
              <a:lnSpc>
                <a:spcPct val="115000"/>
              </a:lnSpc>
              <a:spcBef>
                <a:spcPts val="1000"/>
              </a:spcBef>
              <a:spcAft>
                <a:spcPts val="0"/>
              </a:spcAft>
              <a:buClr>
                <a:schemeClr val="dk1"/>
              </a:buClr>
              <a:buSzPts val="1400"/>
              <a:buChar char="–"/>
              <a:defRPr/>
            </a:lvl2pPr>
            <a:lvl3pPr marL="1371600" lvl="2" indent="-317500" algn="l">
              <a:lnSpc>
                <a:spcPct val="115000"/>
              </a:lnSpc>
              <a:spcBef>
                <a:spcPts val="1000"/>
              </a:spcBef>
              <a:spcAft>
                <a:spcPts val="0"/>
              </a:spcAft>
              <a:buClr>
                <a:schemeClr val="dk1"/>
              </a:buClr>
              <a:buSzPts val="1400"/>
              <a:buChar char="•"/>
              <a:defRPr/>
            </a:lvl3pPr>
            <a:lvl4pPr marL="1828800" lvl="3" indent="-317500" algn="l">
              <a:lnSpc>
                <a:spcPct val="115000"/>
              </a:lnSpc>
              <a:spcBef>
                <a:spcPts val="1000"/>
              </a:spcBef>
              <a:spcAft>
                <a:spcPts val="0"/>
              </a:spcAft>
              <a:buClr>
                <a:schemeClr val="dk1"/>
              </a:buClr>
              <a:buSzPts val="1400"/>
              <a:buChar char="–"/>
              <a:defRPr/>
            </a:lvl4pPr>
            <a:lvl5pPr marL="2286000" lvl="4" indent="-317500" algn="l">
              <a:lnSpc>
                <a:spcPct val="115000"/>
              </a:lnSpc>
              <a:spcBef>
                <a:spcPts val="1000"/>
              </a:spcBef>
              <a:spcAft>
                <a:spcPts val="0"/>
              </a:spcAft>
              <a:buClr>
                <a:schemeClr val="dk1"/>
              </a:buClr>
              <a:buSzPts val="1400"/>
              <a:buChar char="»"/>
              <a:defRPr/>
            </a:lvl5pPr>
            <a:lvl6pPr marL="2743200" lvl="5" indent="-317500" algn="l">
              <a:lnSpc>
                <a:spcPct val="115000"/>
              </a:lnSpc>
              <a:spcBef>
                <a:spcPts val="1000"/>
              </a:spcBef>
              <a:spcAft>
                <a:spcPts val="0"/>
              </a:spcAft>
              <a:buClr>
                <a:schemeClr val="dk1"/>
              </a:buClr>
              <a:buSzPts val="1400"/>
              <a:buChar char="•"/>
              <a:defRPr/>
            </a:lvl6pPr>
            <a:lvl7pPr marL="3200400" lvl="6" indent="-317500" algn="l">
              <a:lnSpc>
                <a:spcPct val="115000"/>
              </a:lnSpc>
              <a:spcBef>
                <a:spcPts val="1000"/>
              </a:spcBef>
              <a:spcAft>
                <a:spcPts val="0"/>
              </a:spcAft>
              <a:buClr>
                <a:schemeClr val="dk1"/>
              </a:buClr>
              <a:buSzPts val="1400"/>
              <a:buChar char="•"/>
              <a:defRPr/>
            </a:lvl7pPr>
            <a:lvl8pPr marL="3657600" lvl="7" indent="-317500" algn="l">
              <a:lnSpc>
                <a:spcPct val="115000"/>
              </a:lnSpc>
              <a:spcBef>
                <a:spcPts val="1000"/>
              </a:spcBef>
              <a:spcAft>
                <a:spcPts val="0"/>
              </a:spcAft>
              <a:buClr>
                <a:schemeClr val="dk1"/>
              </a:buClr>
              <a:buSzPts val="1400"/>
              <a:buChar char="•"/>
              <a:defRPr/>
            </a:lvl8pPr>
            <a:lvl9pPr marL="4114800" lvl="8" indent="-317500" algn="l">
              <a:lnSpc>
                <a:spcPct val="115000"/>
              </a:lnSpc>
              <a:spcBef>
                <a:spcPts val="1000"/>
              </a:spcBef>
              <a:spcAft>
                <a:spcPts val="1000"/>
              </a:spcAft>
              <a:buClr>
                <a:schemeClr val="dk1"/>
              </a:buClr>
              <a:buSzPts val="1400"/>
              <a:buChar char="•"/>
              <a:defRPr/>
            </a:lvl9pPr>
          </a:lstStyle>
          <a:p>
            <a:endParaRPr/>
          </a:p>
        </p:txBody>
      </p:sp>
      <p:sp>
        <p:nvSpPr>
          <p:cNvPr id="20" name="Google Shape;20;p4"/>
          <p:cNvSpPr txBox="1">
            <a:spLocks noGrp="1"/>
          </p:cNvSpPr>
          <p:nvPr>
            <p:ph type="sldNum" idx="12"/>
          </p:nvPr>
        </p:nvSpPr>
        <p:spPr>
          <a:xfrm>
            <a:off x="8175125" y="4616075"/>
            <a:ext cx="854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3 Content" type="secHead">
  <p:cSld name="SECTION_HEADER">
    <p:spTree>
      <p:nvGrpSpPr>
        <p:cNvPr id="1" name="Shape 21"/>
        <p:cNvGrpSpPr/>
        <p:nvPr/>
      </p:nvGrpSpPr>
      <p:grpSpPr>
        <a:xfrm>
          <a:off x="0" y="0"/>
          <a:ext cx="0" cy="0"/>
          <a:chOff x="0" y="0"/>
          <a:chExt cx="0" cy="0"/>
        </a:xfrm>
      </p:grpSpPr>
      <p:sp>
        <p:nvSpPr>
          <p:cNvPr id="22" name="Google Shape;22;p5"/>
          <p:cNvSpPr/>
          <p:nvPr/>
        </p:nvSpPr>
        <p:spPr>
          <a:xfrm>
            <a:off x="0" y="0"/>
            <a:ext cx="3191700" cy="4927800"/>
          </a:xfrm>
          <a:prstGeom prst="rect">
            <a:avLst/>
          </a:prstGeom>
          <a:solidFill>
            <a:srgbClr val="181C6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 name="Google Shape;23;p5"/>
          <p:cNvSpPr txBox="1">
            <a:spLocks noGrp="1"/>
          </p:cNvSpPr>
          <p:nvPr>
            <p:ph type="sldNum" idx="12"/>
          </p:nvPr>
        </p:nvSpPr>
        <p:spPr>
          <a:xfrm>
            <a:off x="8175125" y="4616075"/>
            <a:ext cx="854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5"/>
          <p:cNvSpPr txBox="1">
            <a:spLocks noGrp="1"/>
          </p:cNvSpPr>
          <p:nvPr>
            <p:ph type="title"/>
          </p:nvPr>
        </p:nvSpPr>
        <p:spPr>
          <a:xfrm>
            <a:off x="277025" y="344075"/>
            <a:ext cx="2914800" cy="913800"/>
          </a:xfrm>
          <a:prstGeom prst="rect">
            <a:avLst/>
          </a:prstGeom>
          <a:noFill/>
          <a:ln>
            <a:noFill/>
          </a:ln>
        </p:spPr>
        <p:txBody>
          <a:bodyPr spcFirstLastPara="1" wrap="square" lIns="68575" tIns="34275" rIns="68575" bIns="34275" anchor="t" anchorCtr="0">
            <a:noAutofit/>
          </a:bodyPr>
          <a:lstStyle>
            <a:lvl1pPr lvl="0" algn="l">
              <a:lnSpc>
                <a:spcPct val="115000"/>
              </a:lnSpc>
              <a:spcBef>
                <a:spcPts val="0"/>
              </a:spcBef>
              <a:spcAft>
                <a:spcPts val="0"/>
              </a:spcAft>
              <a:buClr>
                <a:schemeClr val="lt1"/>
              </a:buClr>
              <a:buSzPts val="2200"/>
              <a:buNone/>
              <a:defRPr sz="2200">
                <a:solidFill>
                  <a:schemeClr val="lt1"/>
                </a:solidFill>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a:endParaRPr/>
          </a:p>
        </p:txBody>
      </p:sp>
      <p:sp>
        <p:nvSpPr>
          <p:cNvPr id="25" name="Google Shape;25;p5"/>
          <p:cNvSpPr txBox="1">
            <a:spLocks noGrp="1"/>
          </p:cNvSpPr>
          <p:nvPr>
            <p:ph type="subTitle" idx="1"/>
          </p:nvPr>
        </p:nvSpPr>
        <p:spPr>
          <a:xfrm>
            <a:off x="204500" y="1423350"/>
            <a:ext cx="2987100" cy="3322500"/>
          </a:xfrm>
          <a:prstGeom prst="rect">
            <a:avLst/>
          </a:prstGeom>
          <a:noFill/>
          <a:ln>
            <a:noFill/>
          </a:ln>
        </p:spPr>
        <p:txBody>
          <a:bodyPr spcFirstLastPara="1" wrap="square" lIns="68575" tIns="34275" rIns="68575" bIns="34275" anchor="t" anchorCtr="0">
            <a:normAutofit/>
          </a:bodyPr>
          <a:lstStyle>
            <a:lvl1pPr lvl="0" algn="l">
              <a:lnSpc>
                <a:spcPct val="115000"/>
              </a:lnSpc>
              <a:spcBef>
                <a:spcPts val="0"/>
              </a:spcBef>
              <a:spcAft>
                <a:spcPts val="0"/>
              </a:spcAft>
              <a:buClr>
                <a:schemeClr val="lt1"/>
              </a:buClr>
              <a:buSzPts val="2200"/>
              <a:buNone/>
              <a:defRPr sz="2200" b="1">
                <a:solidFill>
                  <a:schemeClr val="lt1"/>
                </a:solidFill>
              </a:defRPr>
            </a:lvl1pPr>
            <a:lvl2pPr lvl="1" algn="l">
              <a:lnSpc>
                <a:spcPct val="115000"/>
              </a:lnSpc>
              <a:spcBef>
                <a:spcPts val="1000"/>
              </a:spcBef>
              <a:spcAft>
                <a:spcPts val="0"/>
              </a:spcAft>
              <a:buSzPts val="2200"/>
              <a:buNone/>
              <a:defRPr/>
            </a:lvl2pPr>
            <a:lvl3pPr lvl="2" algn="l">
              <a:lnSpc>
                <a:spcPct val="115000"/>
              </a:lnSpc>
              <a:spcBef>
                <a:spcPts val="1000"/>
              </a:spcBef>
              <a:spcAft>
                <a:spcPts val="0"/>
              </a:spcAft>
              <a:buSzPts val="2000"/>
              <a:buNone/>
              <a:defRPr/>
            </a:lvl3pPr>
            <a:lvl4pPr lvl="3" algn="l">
              <a:lnSpc>
                <a:spcPct val="115000"/>
              </a:lnSpc>
              <a:spcBef>
                <a:spcPts val="1000"/>
              </a:spcBef>
              <a:spcAft>
                <a:spcPts val="0"/>
              </a:spcAft>
              <a:buSzPts val="1800"/>
              <a:buNone/>
              <a:defRPr/>
            </a:lvl4pPr>
            <a:lvl5pPr lvl="4" algn="l">
              <a:lnSpc>
                <a:spcPct val="115000"/>
              </a:lnSpc>
              <a:spcBef>
                <a:spcPts val="1000"/>
              </a:spcBef>
              <a:spcAft>
                <a:spcPts val="0"/>
              </a:spcAft>
              <a:buSzPts val="1600"/>
              <a:buNone/>
              <a:defRPr/>
            </a:lvl5pPr>
            <a:lvl6pPr lvl="5" algn="l">
              <a:lnSpc>
                <a:spcPct val="115000"/>
              </a:lnSpc>
              <a:spcBef>
                <a:spcPts val="1000"/>
              </a:spcBef>
              <a:spcAft>
                <a:spcPts val="0"/>
              </a:spcAft>
              <a:buSzPts val="1400"/>
              <a:buNone/>
              <a:defRPr/>
            </a:lvl6pPr>
            <a:lvl7pPr lvl="6" algn="l">
              <a:lnSpc>
                <a:spcPct val="115000"/>
              </a:lnSpc>
              <a:spcBef>
                <a:spcPts val="1000"/>
              </a:spcBef>
              <a:spcAft>
                <a:spcPts val="0"/>
              </a:spcAft>
              <a:buSzPts val="1400"/>
              <a:buNone/>
              <a:defRPr/>
            </a:lvl7pPr>
            <a:lvl8pPr lvl="7" algn="l">
              <a:lnSpc>
                <a:spcPct val="115000"/>
              </a:lnSpc>
              <a:spcBef>
                <a:spcPts val="1000"/>
              </a:spcBef>
              <a:spcAft>
                <a:spcPts val="0"/>
              </a:spcAft>
              <a:buSzPts val="1400"/>
              <a:buNone/>
              <a:defRPr/>
            </a:lvl8pPr>
            <a:lvl9pPr lvl="8" algn="l">
              <a:lnSpc>
                <a:spcPct val="115000"/>
              </a:lnSpc>
              <a:spcBef>
                <a:spcPts val="1000"/>
              </a:spcBef>
              <a:spcAft>
                <a:spcPts val="1000"/>
              </a:spcAft>
              <a:buSzPts val="1400"/>
              <a:buNone/>
              <a:defRPr/>
            </a:lvl9pPr>
          </a:lstStyle>
          <a:p>
            <a:endParaRPr/>
          </a:p>
        </p:txBody>
      </p:sp>
      <p:sp>
        <p:nvSpPr>
          <p:cNvPr id="26" name="Google Shape;26;p5"/>
          <p:cNvSpPr txBox="1">
            <a:spLocks noGrp="1"/>
          </p:cNvSpPr>
          <p:nvPr>
            <p:ph type="body" idx="2"/>
          </p:nvPr>
        </p:nvSpPr>
        <p:spPr>
          <a:xfrm>
            <a:off x="3345900" y="412575"/>
            <a:ext cx="5537400" cy="4418700"/>
          </a:xfrm>
          <a:prstGeom prst="rect">
            <a:avLst/>
          </a:prstGeom>
          <a:noFill/>
          <a:ln>
            <a:noFill/>
          </a:ln>
        </p:spPr>
        <p:txBody>
          <a:bodyPr spcFirstLastPara="1" wrap="square" lIns="68575" tIns="34275" rIns="68575" bIns="34275" anchor="t" anchorCtr="0">
            <a:normAutofit/>
          </a:bodyPr>
          <a:lstStyle>
            <a:lvl1pPr marL="457200" lvl="0" indent="-381000" algn="l">
              <a:lnSpc>
                <a:spcPct val="115000"/>
              </a:lnSpc>
              <a:spcBef>
                <a:spcPts val="0"/>
              </a:spcBef>
              <a:spcAft>
                <a:spcPts val="0"/>
              </a:spcAft>
              <a:buSzPts val="2400"/>
              <a:buChar char="•"/>
              <a:defRPr/>
            </a:lvl1pPr>
            <a:lvl2pPr marL="914400" lvl="1" indent="-368300" algn="l">
              <a:lnSpc>
                <a:spcPct val="115000"/>
              </a:lnSpc>
              <a:spcBef>
                <a:spcPts val="1000"/>
              </a:spcBef>
              <a:spcAft>
                <a:spcPts val="0"/>
              </a:spcAft>
              <a:buSzPts val="2200"/>
              <a:buChar char="–"/>
              <a:defRPr/>
            </a:lvl2pPr>
            <a:lvl3pPr marL="1371600" lvl="2" indent="-355600" algn="l">
              <a:lnSpc>
                <a:spcPct val="115000"/>
              </a:lnSpc>
              <a:spcBef>
                <a:spcPts val="1000"/>
              </a:spcBef>
              <a:spcAft>
                <a:spcPts val="0"/>
              </a:spcAft>
              <a:buSzPts val="2000"/>
              <a:buChar char="•"/>
              <a:defRPr/>
            </a:lvl3pPr>
            <a:lvl4pPr marL="1828800" lvl="3" indent="-342900" algn="l">
              <a:lnSpc>
                <a:spcPct val="115000"/>
              </a:lnSpc>
              <a:spcBef>
                <a:spcPts val="1000"/>
              </a:spcBef>
              <a:spcAft>
                <a:spcPts val="0"/>
              </a:spcAft>
              <a:buSzPts val="1800"/>
              <a:buChar char="–"/>
              <a:defRPr/>
            </a:lvl4pPr>
            <a:lvl5pPr marL="2286000" lvl="4" indent="-330200" algn="l">
              <a:lnSpc>
                <a:spcPct val="115000"/>
              </a:lnSpc>
              <a:spcBef>
                <a:spcPts val="1000"/>
              </a:spcBef>
              <a:spcAft>
                <a:spcPts val="0"/>
              </a:spcAft>
              <a:buSzPts val="16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76550" y="147875"/>
            <a:ext cx="8310000" cy="759900"/>
          </a:xfrm>
          <a:prstGeom prst="rect">
            <a:avLst/>
          </a:prstGeom>
          <a:noFill/>
          <a:ln>
            <a:noFill/>
          </a:ln>
        </p:spPr>
        <p:txBody>
          <a:bodyPr spcFirstLastPara="1" wrap="square" lIns="68575" tIns="34275" rIns="68575" bIns="34275" anchor="ctr" anchorCtr="0">
            <a:normAutofit/>
          </a:bodyPr>
          <a:lstStyle>
            <a:lvl1pPr lvl="0" algn="l">
              <a:lnSpc>
                <a:spcPct val="115000"/>
              </a:lnSpc>
              <a:spcBef>
                <a:spcPts val="0"/>
              </a:spcBef>
              <a:spcAft>
                <a:spcPts val="0"/>
              </a:spcAft>
              <a:buClr>
                <a:schemeClr val="dk1"/>
              </a:buClr>
              <a:buSzPts val="14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a:endParaRPr/>
          </a:p>
        </p:txBody>
      </p:sp>
      <p:sp>
        <p:nvSpPr>
          <p:cNvPr id="29" name="Google Shape;29;p6"/>
          <p:cNvSpPr txBox="1">
            <a:spLocks noGrp="1"/>
          </p:cNvSpPr>
          <p:nvPr>
            <p:ph type="sldNum" idx="12"/>
          </p:nvPr>
        </p:nvSpPr>
        <p:spPr>
          <a:xfrm>
            <a:off x="8175125" y="4616075"/>
            <a:ext cx="854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eft 2/3 Content">
  <p:cSld name="CUSTOM">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328025" y="147875"/>
            <a:ext cx="5551800" cy="759900"/>
          </a:xfrm>
          <a:prstGeom prst="rect">
            <a:avLst/>
          </a:prstGeom>
          <a:noFill/>
          <a:ln>
            <a:noFill/>
          </a:ln>
        </p:spPr>
        <p:txBody>
          <a:bodyPr spcFirstLastPara="1" wrap="square" lIns="68575" tIns="34275" rIns="68575" bIns="34275" anchor="ctr" anchorCtr="0">
            <a:normAutofit/>
          </a:bodyPr>
          <a:lstStyle>
            <a:lvl1pPr marR="0" lvl="0" algn="l">
              <a:lnSpc>
                <a:spcPct val="115000"/>
              </a:lnSpc>
              <a:spcBef>
                <a:spcPts val="0"/>
              </a:spcBef>
              <a:spcAft>
                <a:spcPts val="0"/>
              </a:spcAft>
              <a:buClr>
                <a:schemeClr val="dk1"/>
              </a:buClr>
              <a:buSzPts val="3000"/>
              <a:buFont typeface="Open Sans Light"/>
              <a:buNone/>
              <a:defRPr sz="3000" i="0" u="none" strike="noStrike" cap="none">
                <a:solidFill>
                  <a:schemeClr val="dk1"/>
                </a:solidFill>
                <a:latin typeface="Open Sans Light"/>
                <a:ea typeface="Open Sans Light"/>
                <a:cs typeface="Open Sans Light"/>
                <a:sym typeface="Open Sans Light"/>
              </a:defRPr>
            </a:lvl1pPr>
            <a:lvl2pPr lvl="1" algn="l">
              <a:lnSpc>
                <a:spcPct val="115000"/>
              </a:lnSpc>
              <a:spcBef>
                <a:spcPts val="0"/>
              </a:spcBef>
              <a:spcAft>
                <a:spcPts val="0"/>
              </a:spcAft>
              <a:buSzPts val="1100"/>
              <a:buNone/>
              <a:defRPr sz="1400"/>
            </a:lvl2pPr>
            <a:lvl3pPr lvl="2" algn="l">
              <a:lnSpc>
                <a:spcPct val="115000"/>
              </a:lnSpc>
              <a:spcBef>
                <a:spcPts val="0"/>
              </a:spcBef>
              <a:spcAft>
                <a:spcPts val="0"/>
              </a:spcAft>
              <a:buSzPts val="1100"/>
              <a:buNone/>
              <a:defRPr sz="1400"/>
            </a:lvl3pPr>
            <a:lvl4pPr lvl="3" algn="l">
              <a:lnSpc>
                <a:spcPct val="115000"/>
              </a:lnSpc>
              <a:spcBef>
                <a:spcPts val="0"/>
              </a:spcBef>
              <a:spcAft>
                <a:spcPts val="0"/>
              </a:spcAft>
              <a:buSzPts val="1100"/>
              <a:buNone/>
              <a:defRPr sz="1400"/>
            </a:lvl4pPr>
            <a:lvl5pPr lvl="4" algn="l">
              <a:lnSpc>
                <a:spcPct val="115000"/>
              </a:lnSpc>
              <a:spcBef>
                <a:spcPts val="0"/>
              </a:spcBef>
              <a:spcAft>
                <a:spcPts val="0"/>
              </a:spcAft>
              <a:buSzPts val="1100"/>
              <a:buNone/>
              <a:defRPr sz="1400"/>
            </a:lvl5pPr>
            <a:lvl6pPr lvl="5" algn="l">
              <a:lnSpc>
                <a:spcPct val="115000"/>
              </a:lnSpc>
              <a:spcBef>
                <a:spcPts val="0"/>
              </a:spcBef>
              <a:spcAft>
                <a:spcPts val="0"/>
              </a:spcAft>
              <a:buSzPts val="1100"/>
              <a:buNone/>
              <a:defRPr sz="1400"/>
            </a:lvl6pPr>
            <a:lvl7pPr lvl="6" algn="l">
              <a:lnSpc>
                <a:spcPct val="115000"/>
              </a:lnSpc>
              <a:spcBef>
                <a:spcPts val="0"/>
              </a:spcBef>
              <a:spcAft>
                <a:spcPts val="0"/>
              </a:spcAft>
              <a:buSzPts val="1100"/>
              <a:buNone/>
              <a:defRPr sz="1400"/>
            </a:lvl7pPr>
            <a:lvl8pPr lvl="7" algn="l">
              <a:lnSpc>
                <a:spcPct val="115000"/>
              </a:lnSpc>
              <a:spcBef>
                <a:spcPts val="0"/>
              </a:spcBef>
              <a:spcAft>
                <a:spcPts val="0"/>
              </a:spcAft>
              <a:buSzPts val="1100"/>
              <a:buNone/>
              <a:defRPr sz="1400"/>
            </a:lvl8pPr>
            <a:lvl9pPr lvl="8" algn="l">
              <a:lnSpc>
                <a:spcPct val="115000"/>
              </a:lnSpc>
              <a:spcBef>
                <a:spcPts val="0"/>
              </a:spcBef>
              <a:spcAft>
                <a:spcPts val="0"/>
              </a:spcAft>
              <a:buSzPts val="1100"/>
              <a:buNone/>
              <a:defRPr sz="1400"/>
            </a:lvl9pPr>
          </a:lstStyle>
          <a:p>
            <a:endParaRPr/>
          </a:p>
        </p:txBody>
      </p:sp>
      <p:sp>
        <p:nvSpPr>
          <p:cNvPr id="32" name="Google Shape;32;p7"/>
          <p:cNvSpPr>
            <a:spLocks noGrp="1"/>
          </p:cNvSpPr>
          <p:nvPr>
            <p:ph type="pic" idx="2"/>
          </p:nvPr>
        </p:nvSpPr>
        <p:spPr>
          <a:xfrm>
            <a:off x="0" y="0"/>
            <a:ext cx="3063300" cy="4913100"/>
          </a:xfrm>
          <a:prstGeom prst="rect">
            <a:avLst/>
          </a:prstGeom>
          <a:noFill/>
          <a:ln>
            <a:noFill/>
          </a:ln>
        </p:spPr>
      </p:sp>
      <p:sp>
        <p:nvSpPr>
          <p:cNvPr id="33" name="Google Shape;33;p7"/>
          <p:cNvSpPr txBox="1">
            <a:spLocks noGrp="1"/>
          </p:cNvSpPr>
          <p:nvPr>
            <p:ph type="body" idx="1"/>
          </p:nvPr>
        </p:nvSpPr>
        <p:spPr>
          <a:xfrm>
            <a:off x="3328075" y="975600"/>
            <a:ext cx="5551800" cy="3783300"/>
          </a:xfrm>
          <a:prstGeom prst="rect">
            <a:avLst/>
          </a:prstGeom>
          <a:noFill/>
          <a:ln>
            <a:noFill/>
          </a:ln>
        </p:spPr>
        <p:txBody>
          <a:bodyPr spcFirstLastPara="1" wrap="square" lIns="68575" tIns="34275" rIns="68575" bIns="34275" anchor="t" anchorCtr="0">
            <a:normAutofit/>
          </a:bodyPr>
          <a:lstStyle>
            <a:lvl1pPr marL="457200" lvl="0" indent="-381000" algn="l">
              <a:lnSpc>
                <a:spcPct val="115000"/>
              </a:lnSpc>
              <a:spcBef>
                <a:spcPts val="1000"/>
              </a:spcBef>
              <a:spcAft>
                <a:spcPts val="0"/>
              </a:spcAft>
              <a:buSzPts val="2400"/>
              <a:buChar char="•"/>
              <a:defRPr/>
            </a:lvl1pPr>
            <a:lvl2pPr marL="914400" lvl="1" indent="-368300" algn="l">
              <a:lnSpc>
                <a:spcPct val="115000"/>
              </a:lnSpc>
              <a:spcBef>
                <a:spcPts val="1000"/>
              </a:spcBef>
              <a:spcAft>
                <a:spcPts val="0"/>
              </a:spcAft>
              <a:buSzPts val="2200"/>
              <a:buChar char="–"/>
              <a:defRPr/>
            </a:lvl2pPr>
            <a:lvl3pPr marL="1371600" lvl="2" indent="-355600" algn="l">
              <a:lnSpc>
                <a:spcPct val="115000"/>
              </a:lnSpc>
              <a:spcBef>
                <a:spcPts val="1000"/>
              </a:spcBef>
              <a:spcAft>
                <a:spcPts val="0"/>
              </a:spcAft>
              <a:buSzPts val="2000"/>
              <a:buChar char="•"/>
              <a:defRPr/>
            </a:lvl3pPr>
            <a:lvl4pPr marL="1828800" lvl="3" indent="-342900" algn="l">
              <a:lnSpc>
                <a:spcPct val="115000"/>
              </a:lnSpc>
              <a:spcBef>
                <a:spcPts val="1000"/>
              </a:spcBef>
              <a:spcAft>
                <a:spcPts val="0"/>
              </a:spcAft>
              <a:buSzPts val="1800"/>
              <a:buChar char="–"/>
              <a:defRPr/>
            </a:lvl4pPr>
            <a:lvl5pPr marL="2286000" lvl="4" indent="-330200" algn="l">
              <a:lnSpc>
                <a:spcPct val="115000"/>
              </a:lnSpc>
              <a:spcBef>
                <a:spcPts val="1000"/>
              </a:spcBef>
              <a:spcAft>
                <a:spcPts val="0"/>
              </a:spcAft>
              <a:buSzPts val="16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Right 2/3 Content">
  <p:cSld name="CUSTOM_1">
    <p:spTree>
      <p:nvGrpSpPr>
        <p:cNvPr id="1" name="Shape 34"/>
        <p:cNvGrpSpPr/>
        <p:nvPr/>
      </p:nvGrpSpPr>
      <p:grpSpPr>
        <a:xfrm>
          <a:off x="0" y="0"/>
          <a:ext cx="0" cy="0"/>
          <a:chOff x="0" y="0"/>
          <a:chExt cx="0" cy="0"/>
        </a:xfrm>
      </p:grpSpPr>
      <p:sp>
        <p:nvSpPr>
          <p:cNvPr id="35" name="Google Shape;35;p8"/>
          <p:cNvSpPr>
            <a:spLocks noGrp="1"/>
          </p:cNvSpPr>
          <p:nvPr>
            <p:ph type="pic" idx="2"/>
          </p:nvPr>
        </p:nvSpPr>
        <p:spPr>
          <a:xfrm>
            <a:off x="6080700" y="0"/>
            <a:ext cx="3063300" cy="4899900"/>
          </a:xfrm>
          <a:prstGeom prst="rect">
            <a:avLst/>
          </a:prstGeom>
          <a:noFill/>
          <a:ln>
            <a:noFill/>
          </a:ln>
        </p:spPr>
      </p:sp>
      <p:sp>
        <p:nvSpPr>
          <p:cNvPr id="36" name="Google Shape;36;p8"/>
          <p:cNvSpPr txBox="1">
            <a:spLocks noGrp="1"/>
          </p:cNvSpPr>
          <p:nvPr>
            <p:ph type="body" idx="1"/>
          </p:nvPr>
        </p:nvSpPr>
        <p:spPr>
          <a:xfrm>
            <a:off x="376550" y="1006425"/>
            <a:ext cx="5373000" cy="3893700"/>
          </a:xfrm>
          <a:prstGeom prst="rect">
            <a:avLst/>
          </a:prstGeom>
          <a:noFill/>
          <a:ln>
            <a:noFill/>
          </a:ln>
        </p:spPr>
        <p:txBody>
          <a:bodyPr spcFirstLastPara="1" wrap="square" lIns="68575" tIns="34275" rIns="68575" bIns="34275" anchor="t" anchorCtr="0">
            <a:normAutofit/>
          </a:bodyPr>
          <a:lstStyle>
            <a:lvl1pPr marL="457200" lvl="0" indent="-381000" algn="l">
              <a:lnSpc>
                <a:spcPct val="115000"/>
              </a:lnSpc>
              <a:spcBef>
                <a:spcPts val="0"/>
              </a:spcBef>
              <a:spcAft>
                <a:spcPts val="0"/>
              </a:spcAft>
              <a:buSzPts val="2400"/>
              <a:buChar char="•"/>
              <a:defRPr/>
            </a:lvl1pPr>
            <a:lvl2pPr marL="914400" lvl="1" indent="-368300" algn="l">
              <a:lnSpc>
                <a:spcPct val="115000"/>
              </a:lnSpc>
              <a:spcBef>
                <a:spcPts val="1000"/>
              </a:spcBef>
              <a:spcAft>
                <a:spcPts val="0"/>
              </a:spcAft>
              <a:buSzPts val="2200"/>
              <a:buChar char="–"/>
              <a:defRPr/>
            </a:lvl2pPr>
            <a:lvl3pPr marL="1371600" lvl="2" indent="-355600" algn="l">
              <a:lnSpc>
                <a:spcPct val="115000"/>
              </a:lnSpc>
              <a:spcBef>
                <a:spcPts val="1000"/>
              </a:spcBef>
              <a:spcAft>
                <a:spcPts val="0"/>
              </a:spcAft>
              <a:buSzPts val="2000"/>
              <a:buChar char="•"/>
              <a:defRPr/>
            </a:lvl3pPr>
            <a:lvl4pPr marL="1828800" lvl="3" indent="-342900" algn="l">
              <a:lnSpc>
                <a:spcPct val="115000"/>
              </a:lnSpc>
              <a:spcBef>
                <a:spcPts val="1000"/>
              </a:spcBef>
              <a:spcAft>
                <a:spcPts val="0"/>
              </a:spcAft>
              <a:buSzPts val="1800"/>
              <a:buChar char="–"/>
              <a:defRPr/>
            </a:lvl4pPr>
            <a:lvl5pPr marL="2286000" lvl="4" indent="-330200" algn="l">
              <a:lnSpc>
                <a:spcPct val="115000"/>
              </a:lnSpc>
              <a:spcBef>
                <a:spcPts val="1000"/>
              </a:spcBef>
              <a:spcAft>
                <a:spcPts val="0"/>
              </a:spcAft>
              <a:buSzPts val="16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37" name="Google Shape;37;p8"/>
          <p:cNvSpPr txBox="1">
            <a:spLocks noGrp="1"/>
          </p:cNvSpPr>
          <p:nvPr>
            <p:ph type="title"/>
          </p:nvPr>
        </p:nvSpPr>
        <p:spPr>
          <a:xfrm>
            <a:off x="376550" y="147875"/>
            <a:ext cx="8310000" cy="759900"/>
          </a:xfrm>
          <a:prstGeom prst="rect">
            <a:avLst/>
          </a:prstGeom>
          <a:noFill/>
          <a:ln>
            <a:noFill/>
          </a:ln>
        </p:spPr>
        <p:txBody>
          <a:bodyPr spcFirstLastPara="1" wrap="square" lIns="68575" tIns="34275" rIns="68575" bIns="34275" anchor="ctr" anchorCtr="0">
            <a:normAutofit/>
          </a:bodyPr>
          <a:lstStyle>
            <a:lvl1pPr marR="0" lvl="0" algn="l">
              <a:lnSpc>
                <a:spcPct val="115000"/>
              </a:lnSpc>
              <a:spcBef>
                <a:spcPts val="0"/>
              </a:spcBef>
              <a:spcAft>
                <a:spcPts val="0"/>
              </a:spcAft>
              <a:buClr>
                <a:schemeClr val="dk1"/>
              </a:buClr>
              <a:buSzPts val="3000"/>
              <a:buFont typeface="Open Sans Light"/>
              <a:buNone/>
              <a:defRPr sz="3000" i="0" u="none" strike="noStrike" cap="none">
                <a:solidFill>
                  <a:schemeClr val="dk1"/>
                </a:solidFill>
                <a:latin typeface="Open Sans Light"/>
                <a:ea typeface="Open Sans Light"/>
                <a:cs typeface="Open Sans Light"/>
                <a:sym typeface="Open Sans Light"/>
              </a:defRPr>
            </a:lvl1pPr>
            <a:lvl2pPr lvl="1" algn="l">
              <a:lnSpc>
                <a:spcPct val="115000"/>
              </a:lnSpc>
              <a:spcBef>
                <a:spcPts val="0"/>
              </a:spcBef>
              <a:spcAft>
                <a:spcPts val="0"/>
              </a:spcAft>
              <a:buSzPts val="1100"/>
              <a:buNone/>
              <a:defRPr sz="1400"/>
            </a:lvl2pPr>
            <a:lvl3pPr lvl="2" algn="l">
              <a:lnSpc>
                <a:spcPct val="115000"/>
              </a:lnSpc>
              <a:spcBef>
                <a:spcPts val="0"/>
              </a:spcBef>
              <a:spcAft>
                <a:spcPts val="0"/>
              </a:spcAft>
              <a:buSzPts val="1100"/>
              <a:buNone/>
              <a:defRPr sz="1400"/>
            </a:lvl3pPr>
            <a:lvl4pPr lvl="3" algn="l">
              <a:lnSpc>
                <a:spcPct val="115000"/>
              </a:lnSpc>
              <a:spcBef>
                <a:spcPts val="0"/>
              </a:spcBef>
              <a:spcAft>
                <a:spcPts val="0"/>
              </a:spcAft>
              <a:buSzPts val="1100"/>
              <a:buNone/>
              <a:defRPr sz="1400"/>
            </a:lvl4pPr>
            <a:lvl5pPr lvl="4" algn="l">
              <a:lnSpc>
                <a:spcPct val="115000"/>
              </a:lnSpc>
              <a:spcBef>
                <a:spcPts val="0"/>
              </a:spcBef>
              <a:spcAft>
                <a:spcPts val="0"/>
              </a:spcAft>
              <a:buSzPts val="1100"/>
              <a:buNone/>
              <a:defRPr sz="1400"/>
            </a:lvl5pPr>
            <a:lvl6pPr lvl="5" algn="l">
              <a:lnSpc>
                <a:spcPct val="115000"/>
              </a:lnSpc>
              <a:spcBef>
                <a:spcPts val="0"/>
              </a:spcBef>
              <a:spcAft>
                <a:spcPts val="0"/>
              </a:spcAft>
              <a:buSzPts val="1100"/>
              <a:buNone/>
              <a:defRPr sz="1400"/>
            </a:lvl6pPr>
            <a:lvl7pPr lvl="6" algn="l">
              <a:lnSpc>
                <a:spcPct val="115000"/>
              </a:lnSpc>
              <a:spcBef>
                <a:spcPts val="0"/>
              </a:spcBef>
              <a:spcAft>
                <a:spcPts val="0"/>
              </a:spcAft>
              <a:buSzPts val="1100"/>
              <a:buNone/>
              <a:defRPr sz="1400"/>
            </a:lvl7pPr>
            <a:lvl8pPr lvl="7" algn="l">
              <a:lnSpc>
                <a:spcPct val="115000"/>
              </a:lnSpc>
              <a:spcBef>
                <a:spcPts val="0"/>
              </a:spcBef>
              <a:spcAft>
                <a:spcPts val="0"/>
              </a:spcAft>
              <a:buSzPts val="1100"/>
              <a:buNone/>
              <a:defRPr sz="1400"/>
            </a:lvl8pPr>
            <a:lvl9pPr lvl="8" algn="l">
              <a:lnSpc>
                <a:spcPct val="115000"/>
              </a:lnSpc>
              <a:spcBef>
                <a:spcPts val="0"/>
              </a:spcBef>
              <a:spcAft>
                <a:spcPts val="0"/>
              </a:spcAft>
              <a:buSzPts val="1100"/>
              <a:buNone/>
              <a:defRPr sz="1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Column Content">
  <p:cSld name="CUSTOM_2">
    <p:spTree>
      <p:nvGrpSpPr>
        <p:cNvPr id="1" name="Shape 38"/>
        <p:cNvGrpSpPr/>
        <p:nvPr/>
      </p:nvGrpSpPr>
      <p:grpSpPr>
        <a:xfrm>
          <a:off x="0" y="0"/>
          <a:ext cx="0" cy="0"/>
          <a:chOff x="0" y="0"/>
          <a:chExt cx="0" cy="0"/>
        </a:xfrm>
      </p:grpSpPr>
      <p:sp>
        <p:nvSpPr>
          <p:cNvPr id="39" name="Google Shape;39;p9"/>
          <p:cNvSpPr txBox="1">
            <a:spLocks noGrp="1"/>
          </p:cNvSpPr>
          <p:nvPr>
            <p:ph type="title"/>
          </p:nvPr>
        </p:nvSpPr>
        <p:spPr>
          <a:xfrm>
            <a:off x="376550" y="147875"/>
            <a:ext cx="8310000" cy="759900"/>
          </a:xfrm>
          <a:prstGeom prst="rect">
            <a:avLst/>
          </a:prstGeom>
          <a:noFill/>
          <a:ln>
            <a:noFill/>
          </a:ln>
        </p:spPr>
        <p:txBody>
          <a:bodyPr spcFirstLastPara="1" wrap="square" lIns="68575" tIns="34275" rIns="68575" bIns="34275" anchor="t" anchorCtr="0">
            <a:normAutofit/>
          </a:bodyPr>
          <a:lstStyle>
            <a:lvl1pPr lvl="0" algn="l">
              <a:lnSpc>
                <a:spcPct val="115000"/>
              </a:lnSpc>
              <a:spcBef>
                <a:spcPts val="0"/>
              </a:spcBef>
              <a:spcAft>
                <a:spcPts val="0"/>
              </a:spcAft>
              <a:buSzPts val="30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a:endParaRPr/>
          </a:p>
        </p:txBody>
      </p:sp>
      <p:sp>
        <p:nvSpPr>
          <p:cNvPr id="40" name="Google Shape;40;p9"/>
          <p:cNvSpPr txBox="1">
            <a:spLocks noGrp="1"/>
          </p:cNvSpPr>
          <p:nvPr>
            <p:ph type="body" idx="1"/>
          </p:nvPr>
        </p:nvSpPr>
        <p:spPr>
          <a:xfrm>
            <a:off x="457200" y="875325"/>
            <a:ext cx="3602400" cy="3567900"/>
          </a:xfrm>
          <a:prstGeom prst="rect">
            <a:avLst/>
          </a:prstGeom>
          <a:noFill/>
          <a:ln>
            <a:noFill/>
          </a:ln>
        </p:spPr>
        <p:txBody>
          <a:bodyPr spcFirstLastPara="1" wrap="square" lIns="68575" tIns="34275" rIns="68575" bIns="34275" anchor="t" anchorCtr="0">
            <a:normAutofit/>
          </a:bodyPr>
          <a:lstStyle>
            <a:lvl1pPr marL="457200" lvl="0" indent="-381000" algn="l">
              <a:lnSpc>
                <a:spcPct val="115000"/>
              </a:lnSpc>
              <a:spcBef>
                <a:spcPts val="0"/>
              </a:spcBef>
              <a:spcAft>
                <a:spcPts val="0"/>
              </a:spcAft>
              <a:buSzPts val="2400"/>
              <a:buChar char="•"/>
              <a:defRPr/>
            </a:lvl1pPr>
            <a:lvl2pPr marL="914400" lvl="1" indent="-368300" algn="l">
              <a:lnSpc>
                <a:spcPct val="115000"/>
              </a:lnSpc>
              <a:spcBef>
                <a:spcPts val="1000"/>
              </a:spcBef>
              <a:spcAft>
                <a:spcPts val="0"/>
              </a:spcAft>
              <a:buSzPts val="2200"/>
              <a:buChar char="–"/>
              <a:defRPr/>
            </a:lvl2pPr>
            <a:lvl3pPr marL="1371600" lvl="2" indent="-355600" algn="l">
              <a:lnSpc>
                <a:spcPct val="115000"/>
              </a:lnSpc>
              <a:spcBef>
                <a:spcPts val="1000"/>
              </a:spcBef>
              <a:spcAft>
                <a:spcPts val="0"/>
              </a:spcAft>
              <a:buSzPts val="2000"/>
              <a:buChar char="•"/>
              <a:defRPr/>
            </a:lvl3pPr>
            <a:lvl4pPr marL="1828800" lvl="3" indent="-342900" algn="l">
              <a:lnSpc>
                <a:spcPct val="115000"/>
              </a:lnSpc>
              <a:spcBef>
                <a:spcPts val="1000"/>
              </a:spcBef>
              <a:spcAft>
                <a:spcPts val="0"/>
              </a:spcAft>
              <a:buSzPts val="1800"/>
              <a:buChar char="–"/>
              <a:defRPr/>
            </a:lvl4pPr>
            <a:lvl5pPr marL="2286000" lvl="4" indent="-330200" algn="l">
              <a:lnSpc>
                <a:spcPct val="115000"/>
              </a:lnSpc>
              <a:spcBef>
                <a:spcPts val="1000"/>
              </a:spcBef>
              <a:spcAft>
                <a:spcPts val="0"/>
              </a:spcAft>
              <a:buSzPts val="16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41" name="Google Shape;41;p9"/>
          <p:cNvSpPr txBox="1">
            <a:spLocks noGrp="1"/>
          </p:cNvSpPr>
          <p:nvPr>
            <p:ph type="body" idx="2"/>
          </p:nvPr>
        </p:nvSpPr>
        <p:spPr>
          <a:xfrm>
            <a:off x="4990000" y="875325"/>
            <a:ext cx="3696900" cy="3686100"/>
          </a:xfrm>
          <a:prstGeom prst="rect">
            <a:avLst/>
          </a:prstGeom>
          <a:noFill/>
          <a:ln>
            <a:noFill/>
          </a:ln>
        </p:spPr>
        <p:txBody>
          <a:bodyPr spcFirstLastPara="1" wrap="square" lIns="68575" tIns="34275" rIns="68575" bIns="34275" anchor="t" anchorCtr="0">
            <a:normAutofit/>
          </a:bodyPr>
          <a:lstStyle>
            <a:lvl1pPr marL="457200" lvl="0" indent="-381000" algn="l">
              <a:lnSpc>
                <a:spcPct val="115000"/>
              </a:lnSpc>
              <a:spcBef>
                <a:spcPts val="0"/>
              </a:spcBef>
              <a:spcAft>
                <a:spcPts val="0"/>
              </a:spcAft>
              <a:buSzPts val="2400"/>
              <a:buChar char="•"/>
              <a:defRPr/>
            </a:lvl1pPr>
            <a:lvl2pPr marL="914400" lvl="1" indent="-368300" algn="l">
              <a:lnSpc>
                <a:spcPct val="115000"/>
              </a:lnSpc>
              <a:spcBef>
                <a:spcPts val="1000"/>
              </a:spcBef>
              <a:spcAft>
                <a:spcPts val="0"/>
              </a:spcAft>
              <a:buSzPts val="2200"/>
              <a:buChar char="–"/>
              <a:defRPr/>
            </a:lvl2pPr>
            <a:lvl3pPr marL="1371600" lvl="2" indent="-355600" algn="l">
              <a:lnSpc>
                <a:spcPct val="115000"/>
              </a:lnSpc>
              <a:spcBef>
                <a:spcPts val="1000"/>
              </a:spcBef>
              <a:spcAft>
                <a:spcPts val="0"/>
              </a:spcAft>
              <a:buSzPts val="2000"/>
              <a:buChar char="•"/>
              <a:defRPr/>
            </a:lvl3pPr>
            <a:lvl4pPr marL="1828800" lvl="3" indent="-342900" algn="l">
              <a:lnSpc>
                <a:spcPct val="115000"/>
              </a:lnSpc>
              <a:spcBef>
                <a:spcPts val="1000"/>
              </a:spcBef>
              <a:spcAft>
                <a:spcPts val="0"/>
              </a:spcAft>
              <a:buSzPts val="1800"/>
              <a:buChar char="–"/>
              <a:defRPr/>
            </a:lvl4pPr>
            <a:lvl5pPr marL="2286000" lvl="4" indent="-330200" algn="l">
              <a:lnSpc>
                <a:spcPct val="115000"/>
              </a:lnSpc>
              <a:spcBef>
                <a:spcPts val="1000"/>
              </a:spcBef>
              <a:spcAft>
                <a:spcPts val="0"/>
              </a:spcAft>
              <a:buSzPts val="16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cxnSp>
        <p:nvCxnSpPr>
          <p:cNvPr id="42" name="Google Shape;42;p9"/>
          <p:cNvCxnSpPr/>
          <p:nvPr/>
        </p:nvCxnSpPr>
        <p:spPr>
          <a:xfrm>
            <a:off x="4572000" y="1052325"/>
            <a:ext cx="0" cy="3390900"/>
          </a:xfrm>
          <a:prstGeom prst="straightConnector1">
            <a:avLst/>
          </a:prstGeom>
          <a:noFill/>
          <a:ln w="9525" cap="flat" cmpd="sng">
            <a:solidFill>
              <a:srgbClr val="C51A4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311700" y="445025"/>
            <a:ext cx="8520600" cy="572700"/>
          </a:xfrm>
          <a:prstGeom prst="rect">
            <a:avLst/>
          </a:prstGeom>
          <a:noFill/>
          <a:ln>
            <a:noFill/>
          </a:ln>
        </p:spPr>
        <p:txBody>
          <a:bodyPr spcFirstLastPara="1" wrap="square" lIns="68575" tIns="34275" rIns="68575" bIns="34275" anchor="ctr" anchorCtr="0">
            <a:normAutofit/>
          </a:bodyPr>
          <a:lstStyle>
            <a:lvl1pPr lvl="0" algn="l">
              <a:lnSpc>
                <a:spcPct val="115000"/>
              </a:lnSpc>
              <a:spcBef>
                <a:spcPts val="0"/>
              </a:spcBef>
              <a:spcAft>
                <a:spcPts val="0"/>
              </a:spcAft>
              <a:buSzPts val="30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a:endParaRPr/>
          </a:p>
        </p:txBody>
      </p:sp>
      <p:sp>
        <p:nvSpPr>
          <p:cNvPr id="45" name="Google Shape;45;p10"/>
          <p:cNvSpPr txBox="1">
            <a:spLocks noGrp="1"/>
          </p:cNvSpPr>
          <p:nvPr>
            <p:ph type="body" idx="1"/>
          </p:nvPr>
        </p:nvSpPr>
        <p:spPr>
          <a:xfrm>
            <a:off x="311700" y="1152475"/>
            <a:ext cx="8520600" cy="3416400"/>
          </a:xfrm>
          <a:prstGeom prst="rect">
            <a:avLst/>
          </a:prstGeom>
          <a:noFill/>
          <a:ln>
            <a:noFill/>
          </a:ln>
        </p:spPr>
        <p:txBody>
          <a:bodyPr spcFirstLastPara="1" wrap="square" lIns="68575" tIns="34275" rIns="68575" bIns="34275" anchor="t" anchorCtr="0">
            <a:normAutofit/>
          </a:bodyPr>
          <a:lstStyle>
            <a:lvl1pPr marL="457200" lvl="0" indent="-381000" algn="l">
              <a:lnSpc>
                <a:spcPct val="115000"/>
              </a:lnSpc>
              <a:spcBef>
                <a:spcPts val="0"/>
              </a:spcBef>
              <a:spcAft>
                <a:spcPts val="0"/>
              </a:spcAft>
              <a:buSzPts val="2400"/>
              <a:buChar char="•"/>
              <a:defRPr/>
            </a:lvl1pPr>
            <a:lvl2pPr marL="914400" lvl="1" indent="-368300" algn="l">
              <a:lnSpc>
                <a:spcPct val="115000"/>
              </a:lnSpc>
              <a:spcBef>
                <a:spcPts val="1000"/>
              </a:spcBef>
              <a:spcAft>
                <a:spcPts val="0"/>
              </a:spcAft>
              <a:buSzPts val="2200"/>
              <a:buChar char="–"/>
              <a:defRPr/>
            </a:lvl2pPr>
            <a:lvl3pPr marL="1371600" lvl="2" indent="-355600" algn="l">
              <a:lnSpc>
                <a:spcPct val="115000"/>
              </a:lnSpc>
              <a:spcBef>
                <a:spcPts val="1000"/>
              </a:spcBef>
              <a:spcAft>
                <a:spcPts val="0"/>
              </a:spcAft>
              <a:buSzPts val="2000"/>
              <a:buChar char="•"/>
              <a:defRPr/>
            </a:lvl3pPr>
            <a:lvl4pPr marL="1828800" lvl="3" indent="-342900" algn="l">
              <a:lnSpc>
                <a:spcPct val="115000"/>
              </a:lnSpc>
              <a:spcBef>
                <a:spcPts val="1000"/>
              </a:spcBef>
              <a:spcAft>
                <a:spcPts val="0"/>
              </a:spcAft>
              <a:buSzPts val="1800"/>
              <a:buChar char="–"/>
              <a:defRPr/>
            </a:lvl4pPr>
            <a:lvl5pPr marL="2286000" lvl="4" indent="-330200" algn="l">
              <a:lnSpc>
                <a:spcPct val="115000"/>
              </a:lnSpc>
              <a:spcBef>
                <a:spcPts val="1000"/>
              </a:spcBef>
              <a:spcAft>
                <a:spcPts val="0"/>
              </a:spcAft>
              <a:buSzPts val="16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46" name="Google Shape;46;p10"/>
          <p:cNvSpPr txBox="1">
            <a:spLocks noGrp="1"/>
          </p:cNvSpPr>
          <p:nvPr>
            <p:ph type="sldNum" idx="12"/>
          </p:nvPr>
        </p:nvSpPr>
        <p:spPr>
          <a:xfrm>
            <a:off x="8472458" y="4663217"/>
            <a:ext cx="548700" cy="3936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rot="5400000">
            <a:off x="4455600" y="455028"/>
            <a:ext cx="232800" cy="9144000"/>
          </a:xfrm>
          <a:prstGeom prst="rect">
            <a:avLst/>
          </a:prstGeom>
          <a:solidFill>
            <a:srgbClr val="C51A4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 name="Google Shape;7;p1"/>
          <p:cNvSpPr txBox="1">
            <a:spLocks noGrp="1"/>
          </p:cNvSpPr>
          <p:nvPr>
            <p:ph type="title"/>
          </p:nvPr>
        </p:nvSpPr>
        <p:spPr>
          <a:xfrm>
            <a:off x="376550" y="147875"/>
            <a:ext cx="8310000" cy="759900"/>
          </a:xfrm>
          <a:prstGeom prst="rect">
            <a:avLst/>
          </a:prstGeom>
          <a:noFill/>
          <a:ln>
            <a:noFill/>
          </a:ln>
        </p:spPr>
        <p:txBody>
          <a:bodyPr spcFirstLastPara="1" wrap="square" lIns="68575" tIns="34275" rIns="68575" bIns="34275" anchor="ctr" anchorCtr="0">
            <a:normAutofit/>
          </a:bodyPr>
          <a:lstStyle>
            <a:lvl1pPr marR="0" lvl="0" algn="l" rtl="0">
              <a:lnSpc>
                <a:spcPct val="115000"/>
              </a:lnSpc>
              <a:spcBef>
                <a:spcPts val="0"/>
              </a:spcBef>
              <a:spcAft>
                <a:spcPts val="0"/>
              </a:spcAft>
              <a:buClr>
                <a:schemeClr val="dk1"/>
              </a:buClr>
              <a:buSzPts val="3000"/>
              <a:buFont typeface="Open Sans Light"/>
              <a:buNone/>
              <a:defRPr sz="3000" b="0" i="0" u="none" strike="noStrike" cap="none">
                <a:solidFill>
                  <a:schemeClr val="dk1"/>
                </a:solidFill>
                <a:latin typeface="Open Sans Light"/>
                <a:ea typeface="Open Sans Light"/>
                <a:cs typeface="Open Sans Light"/>
                <a:sym typeface="Open Sans Light"/>
              </a:defRPr>
            </a:lvl1pPr>
            <a:lvl2pPr marR="0" lvl="1"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15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376850" y="987925"/>
            <a:ext cx="8310000" cy="3607500"/>
          </a:xfrm>
          <a:prstGeom prst="rect">
            <a:avLst/>
          </a:prstGeom>
          <a:noFill/>
          <a:ln>
            <a:noFill/>
          </a:ln>
        </p:spPr>
        <p:txBody>
          <a:bodyPr spcFirstLastPara="1" wrap="square" lIns="68575" tIns="34275" rIns="68575" bIns="34275" anchor="t" anchorCtr="0">
            <a:normAutofit/>
          </a:bodyPr>
          <a:lstStyle>
            <a:lvl1pPr marL="457200" marR="0" lvl="0" indent="-381000" algn="l" rtl="0">
              <a:lnSpc>
                <a:spcPct val="115000"/>
              </a:lnSpc>
              <a:spcBef>
                <a:spcPts val="0"/>
              </a:spcBef>
              <a:spcAft>
                <a:spcPts val="0"/>
              </a:spcAft>
              <a:buClr>
                <a:schemeClr val="dk1"/>
              </a:buClr>
              <a:buSzPts val="2400"/>
              <a:buFont typeface="Open Sans"/>
              <a:buChar char="•"/>
              <a:defRPr sz="2400" b="0" i="0" u="none" strike="noStrike" cap="none">
                <a:solidFill>
                  <a:schemeClr val="dk1"/>
                </a:solidFill>
                <a:latin typeface="Open Sans"/>
                <a:ea typeface="Open Sans"/>
                <a:cs typeface="Open Sans"/>
                <a:sym typeface="Open Sans"/>
              </a:defRPr>
            </a:lvl1pPr>
            <a:lvl2pPr marL="914400" marR="0" lvl="1" indent="-368300" algn="l" rtl="0">
              <a:lnSpc>
                <a:spcPct val="115000"/>
              </a:lnSpc>
              <a:spcBef>
                <a:spcPts val="1000"/>
              </a:spcBef>
              <a:spcAft>
                <a:spcPts val="0"/>
              </a:spcAft>
              <a:buClr>
                <a:schemeClr val="dk1"/>
              </a:buClr>
              <a:buSzPts val="2200"/>
              <a:buFont typeface="Open Sans"/>
              <a:buChar char="–"/>
              <a:defRPr sz="2200" b="0" i="0" u="none" strike="noStrike" cap="none">
                <a:solidFill>
                  <a:schemeClr val="dk1"/>
                </a:solidFill>
                <a:latin typeface="Open Sans"/>
                <a:ea typeface="Open Sans"/>
                <a:cs typeface="Open Sans"/>
                <a:sym typeface="Open Sans"/>
              </a:defRPr>
            </a:lvl2pPr>
            <a:lvl3pPr marL="1371600" marR="0" lvl="2" indent="-355600" algn="l" rtl="0">
              <a:lnSpc>
                <a:spcPct val="115000"/>
              </a:lnSpc>
              <a:spcBef>
                <a:spcPts val="1000"/>
              </a:spcBef>
              <a:spcAft>
                <a:spcPts val="0"/>
              </a:spcAft>
              <a:buClr>
                <a:schemeClr val="dk1"/>
              </a:buClr>
              <a:buSzPts val="2000"/>
              <a:buFont typeface="Open Sans"/>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115000"/>
              </a:lnSpc>
              <a:spcBef>
                <a:spcPts val="100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4pPr>
            <a:lvl5pPr marL="2286000" marR="0" lvl="4" indent="-330200" algn="l" rtl="0">
              <a:lnSpc>
                <a:spcPct val="115000"/>
              </a:lnSpc>
              <a:spcBef>
                <a:spcPts val="1000"/>
              </a:spcBef>
              <a:spcAft>
                <a:spcPts val="0"/>
              </a:spcAft>
              <a:buClr>
                <a:schemeClr val="dk1"/>
              </a:buClr>
              <a:buSzPts val="1600"/>
              <a:buFont typeface="Open Sans"/>
              <a:buChar char="»"/>
              <a:defRPr sz="16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0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0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0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000"/>
              </a:spcBef>
              <a:spcAft>
                <a:spcPts val="10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9" name="Google Shape;9;p1"/>
          <p:cNvSpPr txBox="1">
            <a:spLocks noGrp="1"/>
          </p:cNvSpPr>
          <p:nvPr>
            <p:ph type="sldNum" idx="12"/>
          </p:nvPr>
        </p:nvSpPr>
        <p:spPr>
          <a:xfrm>
            <a:off x="8175125" y="4616075"/>
            <a:ext cx="8547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Open Sans Light"/>
                <a:ea typeface="Open Sans Light"/>
                <a:cs typeface="Open Sans Light"/>
                <a:sym typeface="Open Sans Light"/>
              </a:defRPr>
            </a:lvl9pPr>
          </a:lstStyle>
          <a:p>
            <a:pPr marL="0" lvl="0" indent="0" algn="r" rtl="0">
              <a:spcBef>
                <a:spcPts val="0"/>
              </a:spcBef>
              <a:spcAft>
                <a:spcPts val="0"/>
              </a:spcAft>
              <a:buNone/>
            </a:pPr>
            <a:fld id="{00000000-1234-1234-1234-123412341234}" type="slidenum">
              <a:rPr lang="en-US"/>
              <a:t>‹#›</a:t>
            </a:fld>
            <a:endParaRPr/>
          </a:p>
        </p:txBody>
      </p:sp>
      <p:sp>
        <p:nvSpPr>
          <p:cNvPr id="10" name="Google Shape;10;p1"/>
          <p:cNvSpPr txBox="1"/>
          <p:nvPr/>
        </p:nvSpPr>
        <p:spPr>
          <a:xfrm>
            <a:off x="6474250" y="4938050"/>
            <a:ext cx="2670000" cy="161700"/>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Arial"/>
                <a:ea typeface="Arial"/>
                <a:cs typeface="Arial"/>
                <a:sym typeface="Arial"/>
              </a:rPr>
              <a:t>Copyright © 2026 Nanyang Technological University. All rights reserved. </a:t>
            </a:r>
            <a:endParaRPr sz="6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data.gov.s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pic>
        <p:nvPicPr>
          <p:cNvPr id="53" name="Google Shape;53;p12" descr="A building with a balcony and trees&#10;&#10;Description automatically generated"/>
          <p:cNvPicPr preferRelativeResize="0"/>
          <p:nvPr/>
        </p:nvPicPr>
        <p:blipFill rotWithShape="1">
          <a:blip r:embed="rId3">
            <a:alphaModFix/>
          </a:blip>
          <a:srcRect r="33271"/>
          <a:stretch/>
        </p:blipFill>
        <p:spPr>
          <a:xfrm>
            <a:off x="4629241" y="0"/>
            <a:ext cx="4572001" cy="5143501"/>
          </a:xfrm>
          <a:prstGeom prst="rect">
            <a:avLst/>
          </a:prstGeom>
          <a:noFill/>
          <a:ln>
            <a:noFill/>
          </a:ln>
        </p:spPr>
      </p:pic>
      <p:sp>
        <p:nvSpPr>
          <p:cNvPr id="54" name="Google Shape;54;p12"/>
          <p:cNvSpPr/>
          <p:nvPr/>
        </p:nvSpPr>
        <p:spPr>
          <a:xfrm>
            <a:off x="4629240" y="4339244"/>
            <a:ext cx="4572000" cy="804300"/>
          </a:xfrm>
          <a:prstGeom prst="rect">
            <a:avLst/>
          </a:prstGeom>
          <a:solidFill>
            <a:srgbClr val="181C62">
              <a:alpha val="80000"/>
            </a:srgbClr>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5" name="Google Shape;55;p12"/>
          <p:cNvSpPr/>
          <p:nvPr/>
        </p:nvSpPr>
        <p:spPr>
          <a:xfrm>
            <a:off x="0" y="4339244"/>
            <a:ext cx="4629300" cy="804300"/>
          </a:xfrm>
          <a:prstGeom prst="rect">
            <a:avLst/>
          </a:prstGeom>
          <a:solidFill>
            <a:srgbClr val="181C6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6" name="Google Shape;56;p12"/>
          <p:cNvSpPr/>
          <p:nvPr/>
        </p:nvSpPr>
        <p:spPr>
          <a:xfrm>
            <a:off x="1" y="0"/>
            <a:ext cx="342900" cy="5143500"/>
          </a:xfrm>
          <a:prstGeom prst="rect">
            <a:avLst/>
          </a:prstGeom>
          <a:solidFill>
            <a:srgbClr val="C51A4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7" name="Google Shape;57;p12"/>
          <p:cNvSpPr txBox="1"/>
          <p:nvPr/>
        </p:nvSpPr>
        <p:spPr>
          <a:xfrm>
            <a:off x="565475" y="1649875"/>
            <a:ext cx="3631800" cy="996900"/>
          </a:xfrm>
          <a:prstGeom prst="rect">
            <a:avLst/>
          </a:prstGeom>
          <a:noFill/>
          <a:ln>
            <a:noFill/>
          </a:ln>
        </p:spPr>
        <p:txBody>
          <a:bodyPr spcFirstLastPara="1" wrap="square" lIns="67500" tIns="34275" rIns="68575" bIns="34275" anchor="ctr" anchorCtr="0">
            <a:noAutofit/>
          </a:bodyPr>
          <a:lstStyle/>
          <a:p>
            <a:pPr marL="0" marR="0" lvl="0" indent="0" algn="l" rtl="0">
              <a:lnSpc>
                <a:spcPct val="115000"/>
              </a:lnSpc>
              <a:spcBef>
                <a:spcPts val="0"/>
              </a:spcBef>
              <a:spcAft>
                <a:spcPts val="0"/>
              </a:spcAft>
              <a:buClr>
                <a:srgbClr val="181C62"/>
              </a:buClr>
              <a:buSzPts val="3000"/>
              <a:buFont typeface="Open Sans Light"/>
              <a:buNone/>
            </a:pPr>
            <a:r>
              <a:rPr lang="en-US" sz="2400" b="0" i="0" u="none" strike="noStrike" cap="none">
                <a:solidFill>
                  <a:srgbClr val="181C62"/>
                </a:solidFill>
                <a:latin typeface="Open Sans Light"/>
                <a:ea typeface="Open Sans Light"/>
                <a:cs typeface="Open Sans Light"/>
                <a:sym typeface="Open Sans Light"/>
              </a:rPr>
              <a:t>(SCTP) Advanced Professional Certificate</a:t>
            </a:r>
            <a:endParaRPr sz="2400" b="0" i="0" u="none" strike="noStrike" cap="none">
              <a:solidFill>
                <a:srgbClr val="000000"/>
              </a:solidFill>
              <a:latin typeface="Arial"/>
              <a:ea typeface="Arial"/>
              <a:cs typeface="Arial"/>
              <a:sym typeface="Arial"/>
            </a:endParaRPr>
          </a:p>
        </p:txBody>
      </p:sp>
      <p:sp>
        <p:nvSpPr>
          <p:cNvPr id="58" name="Google Shape;58;p12"/>
          <p:cNvSpPr txBox="1"/>
          <p:nvPr/>
        </p:nvSpPr>
        <p:spPr>
          <a:xfrm>
            <a:off x="562516" y="2571750"/>
            <a:ext cx="3892200" cy="604500"/>
          </a:xfrm>
          <a:prstGeom prst="rect">
            <a:avLst/>
          </a:prstGeom>
          <a:noFill/>
          <a:ln>
            <a:noFill/>
          </a:ln>
        </p:spPr>
        <p:txBody>
          <a:bodyPr spcFirstLastPara="1" wrap="square" lIns="67500" tIns="34275" rIns="68575" bIns="34275" anchor="ctr" anchorCtr="0">
            <a:normAutofit/>
          </a:bodyPr>
          <a:lstStyle/>
          <a:p>
            <a:pPr marL="0" marR="0" lvl="0" indent="0" algn="l" rtl="0">
              <a:lnSpc>
                <a:spcPct val="100000"/>
              </a:lnSpc>
              <a:spcBef>
                <a:spcPts val="0"/>
              </a:spcBef>
              <a:spcAft>
                <a:spcPts val="0"/>
              </a:spcAft>
              <a:buClr>
                <a:srgbClr val="181C62"/>
              </a:buClr>
              <a:buSzPts val="1500"/>
              <a:buFont typeface="Open Sans"/>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181C62"/>
              </a:buClr>
              <a:buSzPts val="1500"/>
              <a:buFont typeface="Open Sans"/>
              <a:buNone/>
            </a:pPr>
            <a:r>
              <a:rPr lang="en-US" sz="2400" b="1" i="0" u="none" strike="noStrike" cap="none">
                <a:solidFill>
                  <a:srgbClr val="181C62"/>
                </a:solidFill>
                <a:latin typeface="Open Sans"/>
                <a:ea typeface="Open Sans"/>
                <a:cs typeface="Open Sans"/>
                <a:sym typeface="Open Sans"/>
              </a:rPr>
              <a:t>Data Science and AI</a:t>
            </a:r>
            <a:endParaRPr sz="2400" b="1" i="0" u="none" strike="noStrike" cap="none">
              <a:solidFill>
                <a:srgbClr val="181C62"/>
              </a:solidFill>
              <a:latin typeface="Open Sans"/>
              <a:ea typeface="Open Sans"/>
              <a:cs typeface="Open Sans"/>
              <a:sym typeface="Open Sans"/>
            </a:endParaRPr>
          </a:p>
        </p:txBody>
      </p:sp>
      <p:pic>
        <p:nvPicPr>
          <p:cNvPr id="59" name="Google Shape;59;p12"/>
          <p:cNvPicPr preferRelativeResize="0"/>
          <p:nvPr/>
        </p:nvPicPr>
        <p:blipFill rotWithShape="1">
          <a:blip r:embed="rId4">
            <a:alphaModFix/>
          </a:blip>
          <a:srcRect t="30759" b="33662"/>
          <a:stretch/>
        </p:blipFill>
        <p:spPr>
          <a:xfrm>
            <a:off x="342900" y="0"/>
            <a:ext cx="4263655" cy="996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376550" y="147875"/>
            <a:ext cx="8310000" cy="75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US"/>
              <a:t>Agenda</a:t>
            </a:r>
            <a:endParaRPr/>
          </a:p>
        </p:txBody>
      </p:sp>
      <p:sp>
        <p:nvSpPr>
          <p:cNvPr id="65" name="Google Shape;65;p13"/>
          <p:cNvSpPr txBox="1">
            <a:spLocks noGrp="1"/>
          </p:cNvSpPr>
          <p:nvPr>
            <p:ph type="body" idx="1"/>
          </p:nvPr>
        </p:nvSpPr>
        <p:spPr>
          <a:xfrm>
            <a:off x="376850" y="987925"/>
            <a:ext cx="8310000" cy="3607500"/>
          </a:xfrm>
          <a:prstGeom prst="rect">
            <a:avLst/>
          </a:prstGeom>
        </p:spPr>
        <p:txBody>
          <a:bodyPr spcFirstLastPara="1" wrap="square" lIns="68575" tIns="34275" rIns="68575" bIns="34275" anchor="t" anchorCtr="0">
            <a:normAutofit/>
          </a:bodyPr>
          <a:lstStyle/>
          <a:p>
            <a:pPr marL="457200" lvl="0" indent="-317500" algn="l" rtl="0">
              <a:spcBef>
                <a:spcPts val="0"/>
              </a:spcBef>
              <a:spcAft>
                <a:spcPts val="0"/>
              </a:spcAft>
              <a:buSzPts val="1400"/>
              <a:buAutoNum type="arabicPeriod"/>
            </a:pPr>
            <a:r>
              <a:rPr lang="en-US"/>
              <a:t>Class Hands-on Activity : Predicting HDB Prices + Streamlit Deployment</a:t>
            </a:r>
            <a:endParaRPr/>
          </a:p>
          <a:p>
            <a:pPr marL="457200" lvl="0" indent="-317500" algn="l" rtl="0">
              <a:spcBef>
                <a:spcPts val="0"/>
              </a:spcBef>
              <a:spcAft>
                <a:spcPts val="0"/>
              </a:spcAft>
              <a:buSzPts val="1400"/>
              <a:buAutoNum type="arabicPeriod"/>
            </a:pPr>
            <a:r>
              <a:rPr lang="en-US"/>
              <a:t>Discord Questions </a:t>
            </a:r>
            <a:endParaRPr/>
          </a:p>
          <a:p>
            <a:pPr marL="457200" lvl="0" indent="-317500" algn="l" rtl="0">
              <a:spcBef>
                <a:spcPts val="0"/>
              </a:spcBef>
              <a:spcAft>
                <a:spcPts val="0"/>
              </a:spcAft>
              <a:buSzPts val="1400"/>
              <a:buAutoNum type="arabicPeriod"/>
            </a:pPr>
            <a:r>
              <a:rPr lang="en-US"/>
              <a:t>Project Discussion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69"/>
        <p:cNvGrpSpPr/>
        <p:nvPr/>
      </p:nvGrpSpPr>
      <p:grpSpPr>
        <a:xfrm>
          <a:off x="0" y="0"/>
          <a:ext cx="0" cy="0"/>
          <a:chOff x="0" y="0"/>
          <a:chExt cx="0" cy="0"/>
        </a:xfrm>
      </p:grpSpPr>
      <p:sp>
        <p:nvSpPr>
          <p:cNvPr id="70" name="Google Shape;70;p14"/>
          <p:cNvSpPr txBox="1">
            <a:spLocks noGrp="1"/>
          </p:cNvSpPr>
          <p:nvPr>
            <p:ph type="ctrTitle"/>
          </p:nvPr>
        </p:nvSpPr>
        <p:spPr>
          <a:xfrm>
            <a:off x="599700" y="2161500"/>
            <a:ext cx="7944600" cy="1102500"/>
          </a:xfrm>
          <a:prstGeom prst="rect">
            <a:avLst/>
          </a:prstGeom>
          <a:noFill/>
          <a:ln>
            <a:noFill/>
          </a:ln>
        </p:spPr>
        <p:txBody>
          <a:bodyPr spcFirstLastPara="1" wrap="square" lIns="0" tIns="0" rIns="0" bIns="0" anchor="ctr" anchorCtr="0">
            <a:normAutofit/>
          </a:bodyPr>
          <a:lstStyle/>
          <a:p>
            <a:pPr marL="0" lvl="0" indent="0" algn="ctr" rtl="0">
              <a:lnSpc>
                <a:spcPct val="115000"/>
              </a:lnSpc>
              <a:spcBef>
                <a:spcPts val="0"/>
              </a:spcBef>
              <a:spcAft>
                <a:spcPts val="0"/>
              </a:spcAft>
              <a:buClr>
                <a:schemeClr val="lt1"/>
              </a:buClr>
              <a:buSzPts val="3000"/>
              <a:buFont typeface="Arial"/>
              <a:buNone/>
            </a:pPr>
            <a:r>
              <a:rPr lang="en-US" b="1">
                <a:solidFill>
                  <a:schemeClr val="lt1"/>
                </a:solidFill>
              </a:rPr>
              <a:t>C</a:t>
            </a:r>
            <a:r>
              <a:rPr lang="en-US" sz="3000" b="1">
                <a:solidFill>
                  <a:schemeClr val="lt1"/>
                </a:solidFill>
              </a:rPr>
              <a:t>3.2 </a:t>
            </a:r>
            <a:r>
              <a:rPr lang="en-US" b="1">
                <a:solidFill>
                  <a:schemeClr val="lt1"/>
                </a:solidFill>
              </a:rPr>
              <a:t>Predicting HDB Prices: 3 Models &amp; Streamlit Deployment</a:t>
            </a:r>
            <a:endParaRPr b="1">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75"/>
        <p:cNvGrpSpPr/>
        <p:nvPr/>
      </p:nvGrpSpPr>
      <p:grpSpPr>
        <a:xfrm>
          <a:off x="0" y="0"/>
          <a:ext cx="0" cy="0"/>
          <a:chOff x="0" y="0"/>
          <a:chExt cx="0" cy="0"/>
        </a:xfrm>
      </p:grpSpPr>
      <p:sp>
        <p:nvSpPr>
          <p:cNvPr id="76" name="Google Shape;76;p15"/>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77" name="Google Shape;77;p15"/>
          <p:cNvSpPr/>
          <p:nvPr/>
        </p:nvSpPr>
        <p:spPr>
          <a:xfrm>
            <a:off x="411480" y="994410"/>
            <a:ext cx="8229600" cy="2742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C8102E"/>
              </a:buClr>
              <a:buSzPts val="1300"/>
              <a:buFont typeface="Open Sans"/>
              <a:buNone/>
            </a:pPr>
            <a:r>
              <a:rPr lang="en-US" sz="1300" b="1" i="0" u="none" strike="noStrike" cap="none">
                <a:solidFill>
                  <a:schemeClr val="lt1"/>
                </a:solidFill>
                <a:latin typeface="Open Sans"/>
                <a:ea typeface="Open Sans"/>
                <a:cs typeface="Open Sans"/>
                <a:sym typeface="Open Sans"/>
              </a:rPr>
              <a:t>Coaching Session 2 ·  Machine Learning &amp; GenAI</a:t>
            </a:r>
            <a:endParaRPr sz="1100" b="0" i="0" u="none" strike="noStrike" cap="none">
              <a:solidFill>
                <a:schemeClr val="lt1"/>
              </a:solidFill>
              <a:latin typeface="Arial"/>
              <a:ea typeface="Arial"/>
              <a:cs typeface="Arial"/>
              <a:sym typeface="Arial"/>
            </a:endParaRPr>
          </a:p>
        </p:txBody>
      </p:sp>
      <p:sp>
        <p:nvSpPr>
          <p:cNvPr id="78" name="Google Shape;78;p15"/>
          <p:cNvSpPr/>
          <p:nvPr/>
        </p:nvSpPr>
        <p:spPr>
          <a:xfrm>
            <a:off x="411480" y="1440180"/>
            <a:ext cx="8229600" cy="6858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C8102E"/>
              </a:buClr>
              <a:buSzPts val="5400"/>
              <a:buFont typeface="Open Sans"/>
              <a:buNone/>
            </a:pPr>
            <a:r>
              <a:rPr lang="en-US" sz="5400" b="0" i="0" u="none" strike="noStrike" cap="none">
                <a:solidFill>
                  <a:schemeClr val="accent6"/>
                </a:solidFill>
                <a:latin typeface="Open Sans"/>
                <a:ea typeface="Open Sans"/>
                <a:cs typeface="Open Sans"/>
                <a:sym typeface="Open Sans"/>
              </a:rPr>
              <a:t>C3.2</a:t>
            </a:r>
            <a:endParaRPr sz="1100" b="0" i="0" u="none" strike="noStrike" cap="none">
              <a:solidFill>
                <a:schemeClr val="accent6"/>
              </a:solidFill>
              <a:latin typeface="Arial"/>
              <a:ea typeface="Arial"/>
              <a:cs typeface="Arial"/>
              <a:sym typeface="Arial"/>
            </a:endParaRPr>
          </a:p>
        </p:txBody>
      </p:sp>
      <p:sp>
        <p:nvSpPr>
          <p:cNvPr id="79" name="Google Shape;79;p15"/>
          <p:cNvSpPr/>
          <p:nvPr/>
        </p:nvSpPr>
        <p:spPr>
          <a:xfrm>
            <a:off x="411480" y="2125980"/>
            <a:ext cx="8229600" cy="20574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5300"/>
              <a:buFont typeface="Open Sans"/>
              <a:buNone/>
            </a:pPr>
            <a:r>
              <a:rPr lang="en-US" sz="5300" b="0" i="0" u="none" strike="noStrike" cap="none">
                <a:solidFill>
                  <a:srgbClr val="FFFFFF"/>
                </a:solidFill>
                <a:latin typeface="Open Sans"/>
                <a:ea typeface="Open Sans"/>
                <a:cs typeface="Open Sans"/>
                <a:sym typeface="Open Sans"/>
              </a:rPr>
              <a:t>HDB Price Predictor </a:t>
            </a:r>
            <a:br>
              <a:rPr lang="en-US" sz="5300" b="0" i="0" u="none" strike="noStrike" cap="none">
                <a:solidFill>
                  <a:srgbClr val="FFFFFF"/>
                </a:solidFill>
                <a:latin typeface="Open Sans"/>
                <a:ea typeface="Open Sans"/>
                <a:cs typeface="Open Sans"/>
                <a:sym typeface="Open Sans"/>
              </a:rPr>
            </a:br>
            <a:r>
              <a:rPr lang="en-US" sz="5300" b="1" i="0" u="none" strike="noStrike" cap="none">
                <a:solidFill>
                  <a:schemeClr val="accent6"/>
                </a:solidFill>
                <a:latin typeface="Open Sans"/>
                <a:ea typeface="Open Sans"/>
                <a:cs typeface="Open Sans"/>
                <a:sym typeface="Open Sans"/>
              </a:rPr>
              <a:t>Comparing 3 Models</a:t>
            </a:r>
            <a:endParaRPr sz="1100" b="0" i="0" u="none" strike="noStrike" cap="none">
              <a:solidFill>
                <a:schemeClr val="accent6"/>
              </a:solidFill>
              <a:latin typeface="Arial"/>
              <a:ea typeface="Arial"/>
              <a:cs typeface="Arial"/>
              <a:sym typeface="Arial"/>
            </a:endParaRPr>
          </a:p>
        </p:txBody>
      </p:sp>
      <p:sp>
        <p:nvSpPr>
          <p:cNvPr id="80" name="Google Shape;80;p15"/>
          <p:cNvSpPr/>
          <p:nvPr/>
        </p:nvSpPr>
        <p:spPr>
          <a:xfrm>
            <a:off x="411480" y="4114800"/>
            <a:ext cx="8229600" cy="342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FFFFFF"/>
              </a:buClr>
              <a:buSzPts val="1700"/>
              <a:buFont typeface="Open Sans"/>
              <a:buNone/>
            </a:pPr>
            <a:r>
              <a:rPr lang="en-US" sz="1700" b="0" i="1" u="none" strike="noStrike" cap="none">
                <a:solidFill>
                  <a:srgbClr val="FFFFFF"/>
                </a:solidFill>
                <a:latin typeface="Open Sans"/>
                <a:ea typeface="Open Sans"/>
                <a:cs typeface="Open Sans"/>
                <a:sym typeface="Open Sans"/>
              </a:rPr>
              <a:t>Linear Regression vs Random Forest vs Gradient Boosting, then deploy</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86" name="Google Shape;86;p16"/>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87" name="Google Shape;87;p16"/>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Today's roadmap</a:t>
            </a:r>
            <a:endParaRPr sz="1100" b="0" i="0" u="none" strike="noStrike" cap="none">
              <a:solidFill>
                <a:srgbClr val="000000"/>
              </a:solidFill>
              <a:latin typeface="Arial"/>
              <a:ea typeface="Arial"/>
              <a:cs typeface="Arial"/>
              <a:sym typeface="Arial"/>
            </a:endParaRPr>
          </a:p>
        </p:txBody>
      </p:sp>
      <p:sp>
        <p:nvSpPr>
          <p:cNvPr id="88" name="Google Shape;88;p16"/>
          <p:cNvSpPr txBox="1"/>
          <p:nvPr/>
        </p:nvSpPr>
        <p:spPr>
          <a:xfrm>
            <a:off x="411480" y="685800"/>
            <a:ext cx="82296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89" name="Google Shape;89;p16"/>
          <p:cNvSpPr txBox="1"/>
          <p:nvPr/>
        </p:nvSpPr>
        <p:spPr>
          <a:xfrm>
            <a:off x="411475" y="1047375"/>
            <a:ext cx="6953100" cy="793800"/>
          </a:xfrm>
          <a:prstGeom prst="rect">
            <a:avLst/>
          </a:prstGeom>
          <a:solidFill>
            <a:srgbClr val="1B2A4A"/>
          </a:solidFill>
          <a:ln w="9525" cap="flat" cmpd="sng">
            <a:solidFill>
              <a:srgbClr val="4F81BD"/>
            </a:solidFill>
            <a:prstDash val="solid"/>
            <a:round/>
            <a:headEnd type="none" w="sm" len="sm"/>
            <a:tailEnd type="none" w="sm" len="sm"/>
          </a:ln>
        </p:spPr>
        <p:txBody>
          <a:bodyPr spcFirstLastPara="1" wrap="square" lIns="180000" tIns="180000" rIns="180000" bIns="18000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0" i="1" u="none" strike="noStrike" cap="none">
                <a:solidFill>
                  <a:srgbClr val="FFFFFF"/>
                </a:solidFill>
                <a:latin typeface="Open Sans"/>
                <a:ea typeface="Open Sans"/>
                <a:cs typeface="Open Sans"/>
                <a:sym typeface="Open Sans"/>
              </a:rPr>
              <a:t>Goal: predict the resale price of an HDB flat, compare three models fairly, and deploy the best one as a web app.</a:t>
            </a:r>
            <a:endParaRPr sz="1300" b="0" i="1" u="none" strike="noStrike" cap="none">
              <a:solidFill>
                <a:schemeClr val="lt1"/>
              </a:solidFill>
              <a:latin typeface="Open Sans"/>
              <a:ea typeface="Open Sans"/>
              <a:cs typeface="Open Sans"/>
              <a:sym typeface="Open Sans"/>
            </a:endParaRPr>
          </a:p>
        </p:txBody>
      </p:sp>
      <p:cxnSp>
        <p:nvCxnSpPr>
          <p:cNvPr id="90" name="Google Shape;90;p16"/>
          <p:cNvCxnSpPr/>
          <p:nvPr/>
        </p:nvCxnSpPr>
        <p:spPr>
          <a:xfrm>
            <a:off x="1426464" y="2788920"/>
            <a:ext cx="804672" cy="0"/>
          </a:xfrm>
          <a:prstGeom prst="straightConnector1">
            <a:avLst/>
          </a:prstGeom>
          <a:noFill/>
          <a:ln w="25400" cap="flat" cmpd="sng">
            <a:solidFill>
              <a:srgbClr val="C9D6EA"/>
            </a:solidFill>
            <a:prstDash val="solid"/>
            <a:round/>
            <a:headEnd type="none" w="sm" len="sm"/>
            <a:tailEnd type="none" w="sm" len="sm"/>
          </a:ln>
          <a:effectLst>
            <a:outerShdw blurRad="40000" dist="20000" dir="5400000" rotWithShape="0">
              <a:srgbClr val="000000">
                <a:alpha val="38039"/>
              </a:srgbClr>
            </a:outerShdw>
          </a:effectLst>
        </p:spPr>
      </p:cxnSp>
      <p:sp>
        <p:nvSpPr>
          <p:cNvPr id="91" name="Google Shape;91;p16"/>
          <p:cNvSpPr/>
          <p:nvPr/>
        </p:nvSpPr>
        <p:spPr>
          <a:xfrm>
            <a:off x="859536" y="2505456"/>
            <a:ext cx="566928" cy="566928"/>
          </a:xfrm>
          <a:prstGeom prst="ellipse">
            <a:avLst/>
          </a:prstGeom>
          <a:solidFill>
            <a:srgbClr val="1B2A4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Open Sans"/>
                <a:ea typeface="Open Sans"/>
                <a:cs typeface="Open Sans"/>
                <a:sym typeface="Open Sans"/>
              </a:rPr>
              <a:t>1</a:t>
            </a:r>
            <a:endParaRPr/>
          </a:p>
        </p:txBody>
      </p:sp>
      <p:sp>
        <p:nvSpPr>
          <p:cNvPr id="92" name="Google Shape;92;p16"/>
          <p:cNvSpPr txBox="1"/>
          <p:nvPr/>
        </p:nvSpPr>
        <p:spPr>
          <a:xfrm>
            <a:off x="502920" y="3246120"/>
            <a:ext cx="1280160" cy="128016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250" b="1" i="0" u="none" strike="noStrike" cap="none">
                <a:solidFill>
                  <a:srgbClr val="1B2A4A"/>
                </a:solidFill>
                <a:latin typeface="Open Sans"/>
                <a:ea typeface="Open Sans"/>
                <a:cs typeface="Open Sans"/>
                <a:sym typeface="Open Sans"/>
              </a:rPr>
              <a:t>Models</a:t>
            </a:r>
            <a:endParaRPr/>
          </a:p>
          <a:p>
            <a:pPr marL="0" marR="0" lvl="0" indent="0" algn="ctr" rtl="0">
              <a:lnSpc>
                <a:spcPct val="110000"/>
              </a:lnSpc>
              <a:spcBef>
                <a:spcPts val="300"/>
              </a:spcBef>
              <a:spcAft>
                <a:spcPts val="0"/>
              </a:spcAft>
              <a:buNone/>
            </a:pPr>
            <a:r>
              <a:rPr lang="en-US" sz="1050" b="0" i="0" u="none" strike="noStrike" cap="none">
                <a:solidFill>
                  <a:srgbClr val="5F6368"/>
                </a:solidFill>
                <a:latin typeface="Open Sans"/>
                <a:ea typeface="Open Sans"/>
                <a:cs typeface="Open Sans"/>
                <a:sym typeface="Open Sans"/>
              </a:rPr>
              <a:t>Linear Regression, Random Forest, Gradient Boosting</a:t>
            </a:r>
            <a:endParaRPr/>
          </a:p>
        </p:txBody>
      </p:sp>
      <p:cxnSp>
        <p:nvCxnSpPr>
          <p:cNvPr id="93" name="Google Shape;93;p16"/>
          <p:cNvCxnSpPr/>
          <p:nvPr/>
        </p:nvCxnSpPr>
        <p:spPr>
          <a:xfrm>
            <a:off x="2798064" y="2788920"/>
            <a:ext cx="804672" cy="0"/>
          </a:xfrm>
          <a:prstGeom prst="straightConnector1">
            <a:avLst/>
          </a:prstGeom>
          <a:noFill/>
          <a:ln w="25400" cap="flat" cmpd="sng">
            <a:solidFill>
              <a:srgbClr val="C9D6EA"/>
            </a:solidFill>
            <a:prstDash val="solid"/>
            <a:round/>
            <a:headEnd type="none" w="sm" len="sm"/>
            <a:tailEnd type="none" w="sm" len="sm"/>
          </a:ln>
          <a:effectLst>
            <a:outerShdw blurRad="40000" dist="20000" dir="5400000" rotWithShape="0">
              <a:srgbClr val="000000">
                <a:alpha val="38039"/>
              </a:srgbClr>
            </a:outerShdw>
          </a:effectLst>
        </p:spPr>
      </p:cxnSp>
      <p:sp>
        <p:nvSpPr>
          <p:cNvPr id="94" name="Google Shape;94;p16"/>
          <p:cNvSpPr/>
          <p:nvPr/>
        </p:nvSpPr>
        <p:spPr>
          <a:xfrm>
            <a:off x="2231136" y="2505456"/>
            <a:ext cx="566928" cy="566928"/>
          </a:xfrm>
          <a:prstGeom prst="ellipse">
            <a:avLst/>
          </a:prstGeom>
          <a:solidFill>
            <a:srgbClr val="1B2A4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Open Sans"/>
                <a:ea typeface="Open Sans"/>
                <a:cs typeface="Open Sans"/>
                <a:sym typeface="Open Sans"/>
              </a:rPr>
              <a:t>2</a:t>
            </a:r>
            <a:endParaRPr/>
          </a:p>
        </p:txBody>
      </p:sp>
      <p:sp>
        <p:nvSpPr>
          <p:cNvPr id="95" name="Google Shape;95;p16"/>
          <p:cNvSpPr txBox="1"/>
          <p:nvPr/>
        </p:nvSpPr>
        <p:spPr>
          <a:xfrm>
            <a:off x="1874519" y="3246120"/>
            <a:ext cx="1280160" cy="128016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250" b="1" i="0" u="none" strike="noStrike" cap="none">
                <a:solidFill>
                  <a:srgbClr val="1B2A4A"/>
                </a:solidFill>
                <a:latin typeface="Open Sans"/>
                <a:ea typeface="Open Sans"/>
                <a:cs typeface="Open Sans"/>
                <a:sym typeface="Open Sans"/>
              </a:rPr>
              <a:t>Metrics</a:t>
            </a:r>
            <a:endParaRPr/>
          </a:p>
          <a:p>
            <a:pPr marL="0" marR="0" lvl="0" indent="0" algn="ctr" rtl="0">
              <a:lnSpc>
                <a:spcPct val="110000"/>
              </a:lnSpc>
              <a:spcBef>
                <a:spcPts val="300"/>
              </a:spcBef>
              <a:spcAft>
                <a:spcPts val="0"/>
              </a:spcAft>
              <a:buNone/>
            </a:pPr>
            <a:r>
              <a:rPr lang="en-US" sz="1050" b="0" i="0" u="none" strike="noStrike" cap="none">
                <a:solidFill>
                  <a:srgbClr val="5F6368"/>
                </a:solidFill>
                <a:latin typeface="Open Sans"/>
                <a:ea typeface="Open Sans"/>
                <a:cs typeface="Open Sans"/>
                <a:sym typeface="Open Sans"/>
              </a:rPr>
              <a:t>MAE, RMSE and R²</a:t>
            </a:r>
            <a:endParaRPr/>
          </a:p>
        </p:txBody>
      </p:sp>
      <p:cxnSp>
        <p:nvCxnSpPr>
          <p:cNvPr id="96" name="Google Shape;96;p16"/>
          <p:cNvCxnSpPr/>
          <p:nvPr/>
        </p:nvCxnSpPr>
        <p:spPr>
          <a:xfrm>
            <a:off x="4169663" y="2788920"/>
            <a:ext cx="804673" cy="0"/>
          </a:xfrm>
          <a:prstGeom prst="straightConnector1">
            <a:avLst/>
          </a:prstGeom>
          <a:noFill/>
          <a:ln w="25400" cap="flat" cmpd="sng">
            <a:solidFill>
              <a:srgbClr val="C9D6EA"/>
            </a:solidFill>
            <a:prstDash val="solid"/>
            <a:round/>
            <a:headEnd type="none" w="sm" len="sm"/>
            <a:tailEnd type="none" w="sm" len="sm"/>
          </a:ln>
          <a:effectLst>
            <a:outerShdw blurRad="40000" dist="20000" dir="5400000" rotWithShape="0">
              <a:srgbClr val="000000">
                <a:alpha val="38039"/>
              </a:srgbClr>
            </a:outerShdw>
          </a:effectLst>
        </p:spPr>
      </p:cxnSp>
      <p:sp>
        <p:nvSpPr>
          <p:cNvPr id="97" name="Google Shape;97;p16"/>
          <p:cNvSpPr/>
          <p:nvPr/>
        </p:nvSpPr>
        <p:spPr>
          <a:xfrm>
            <a:off x="3602736" y="2505456"/>
            <a:ext cx="566928" cy="566928"/>
          </a:xfrm>
          <a:prstGeom prst="ellipse">
            <a:avLst/>
          </a:prstGeom>
          <a:solidFill>
            <a:srgbClr val="1B2A4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Open Sans"/>
                <a:ea typeface="Open Sans"/>
                <a:cs typeface="Open Sans"/>
                <a:sym typeface="Open Sans"/>
              </a:rPr>
              <a:t>3</a:t>
            </a:r>
            <a:endParaRPr/>
          </a:p>
        </p:txBody>
      </p:sp>
      <p:sp>
        <p:nvSpPr>
          <p:cNvPr id="98" name="Google Shape;98;p16"/>
          <p:cNvSpPr txBox="1"/>
          <p:nvPr/>
        </p:nvSpPr>
        <p:spPr>
          <a:xfrm>
            <a:off x="3246120" y="3246120"/>
            <a:ext cx="1280160" cy="128016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250" b="1" i="0" u="none" strike="noStrike" cap="none">
                <a:solidFill>
                  <a:srgbClr val="1B2A4A"/>
                </a:solidFill>
                <a:latin typeface="Open Sans"/>
                <a:ea typeface="Open Sans"/>
                <a:cs typeface="Open Sans"/>
                <a:sym typeface="Open Sans"/>
              </a:rPr>
              <a:t>Fair comparison</a:t>
            </a:r>
            <a:endParaRPr/>
          </a:p>
          <a:p>
            <a:pPr marL="0" marR="0" lvl="0" indent="0" algn="ctr" rtl="0">
              <a:lnSpc>
                <a:spcPct val="110000"/>
              </a:lnSpc>
              <a:spcBef>
                <a:spcPts val="300"/>
              </a:spcBef>
              <a:spcAft>
                <a:spcPts val="0"/>
              </a:spcAft>
              <a:buNone/>
            </a:pPr>
            <a:r>
              <a:rPr lang="en-US" sz="1050" b="0" i="0" u="none" strike="noStrike" cap="none">
                <a:solidFill>
                  <a:srgbClr val="5F6368"/>
                </a:solidFill>
                <a:latin typeface="Open Sans"/>
                <a:ea typeface="Open Sans"/>
                <a:cs typeface="Open Sans"/>
                <a:sym typeface="Open Sans"/>
              </a:rPr>
              <a:t>Train/test split and cross-validation</a:t>
            </a:r>
            <a:endParaRPr/>
          </a:p>
        </p:txBody>
      </p:sp>
      <p:cxnSp>
        <p:nvCxnSpPr>
          <p:cNvPr id="99" name="Google Shape;99;p16"/>
          <p:cNvCxnSpPr/>
          <p:nvPr/>
        </p:nvCxnSpPr>
        <p:spPr>
          <a:xfrm>
            <a:off x="5541264" y="2788920"/>
            <a:ext cx="804672" cy="0"/>
          </a:xfrm>
          <a:prstGeom prst="straightConnector1">
            <a:avLst/>
          </a:prstGeom>
          <a:noFill/>
          <a:ln w="25400" cap="flat" cmpd="sng">
            <a:solidFill>
              <a:srgbClr val="C9D6EA"/>
            </a:solidFill>
            <a:prstDash val="solid"/>
            <a:round/>
            <a:headEnd type="none" w="sm" len="sm"/>
            <a:tailEnd type="none" w="sm" len="sm"/>
          </a:ln>
          <a:effectLst>
            <a:outerShdw blurRad="40000" dist="20000" dir="5400000" rotWithShape="0">
              <a:srgbClr val="000000">
                <a:alpha val="38039"/>
              </a:srgbClr>
            </a:outerShdw>
          </a:effectLst>
        </p:spPr>
      </p:cxnSp>
      <p:sp>
        <p:nvSpPr>
          <p:cNvPr id="100" name="Google Shape;100;p16"/>
          <p:cNvSpPr/>
          <p:nvPr/>
        </p:nvSpPr>
        <p:spPr>
          <a:xfrm>
            <a:off x="4974336" y="2505456"/>
            <a:ext cx="566928" cy="566928"/>
          </a:xfrm>
          <a:prstGeom prst="ellipse">
            <a:avLst/>
          </a:prstGeom>
          <a:solidFill>
            <a:srgbClr val="1B2A4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Open Sans"/>
                <a:ea typeface="Open Sans"/>
                <a:cs typeface="Open Sans"/>
                <a:sym typeface="Open Sans"/>
              </a:rPr>
              <a:t>4</a:t>
            </a:r>
            <a:endParaRPr/>
          </a:p>
        </p:txBody>
      </p:sp>
      <p:sp>
        <p:nvSpPr>
          <p:cNvPr id="101" name="Google Shape;101;p16"/>
          <p:cNvSpPr txBox="1"/>
          <p:nvPr/>
        </p:nvSpPr>
        <p:spPr>
          <a:xfrm>
            <a:off x="4617720" y="3246120"/>
            <a:ext cx="1280160" cy="128016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250" b="1" i="0" u="none" strike="noStrike" cap="none">
                <a:solidFill>
                  <a:srgbClr val="1B2A4A"/>
                </a:solidFill>
                <a:latin typeface="Open Sans"/>
                <a:ea typeface="Open Sans"/>
                <a:cs typeface="Open Sans"/>
                <a:sym typeface="Open Sans"/>
              </a:rPr>
              <a:t>Features</a:t>
            </a:r>
            <a:endParaRPr/>
          </a:p>
          <a:p>
            <a:pPr marL="0" marR="0" lvl="0" indent="0" algn="ctr" rtl="0">
              <a:lnSpc>
                <a:spcPct val="110000"/>
              </a:lnSpc>
              <a:spcBef>
                <a:spcPts val="300"/>
              </a:spcBef>
              <a:spcAft>
                <a:spcPts val="0"/>
              </a:spcAft>
              <a:buNone/>
            </a:pPr>
            <a:r>
              <a:rPr lang="en-US" sz="1050" b="0" i="0" u="none" strike="noStrike" cap="none">
                <a:solidFill>
                  <a:srgbClr val="5F6368"/>
                </a:solidFill>
                <a:latin typeface="Open Sans"/>
                <a:ea typeface="Open Sans"/>
                <a:cs typeface="Open Sans"/>
                <a:sym typeface="Open Sans"/>
              </a:rPr>
              <a:t>Storey, one-hot encoding, Pipeline</a:t>
            </a:r>
            <a:endParaRPr/>
          </a:p>
        </p:txBody>
      </p:sp>
      <p:cxnSp>
        <p:nvCxnSpPr>
          <p:cNvPr id="102" name="Google Shape;102;p16"/>
          <p:cNvCxnSpPr/>
          <p:nvPr/>
        </p:nvCxnSpPr>
        <p:spPr>
          <a:xfrm>
            <a:off x="6912864" y="2788920"/>
            <a:ext cx="804672" cy="0"/>
          </a:xfrm>
          <a:prstGeom prst="straightConnector1">
            <a:avLst/>
          </a:prstGeom>
          <a:noFill/>
          <a:ln w="25400" cap="flat" cmpd="sng">
            <a:solidFill>
              <a:srgbClr val="C9D6EA"/>
            </a:solidFill>
            <a:prstDash val="solid"/>
            <a:round/>
            <a:headEnd type="none" w="sm" len="sm"/>
            <a:tailEnd type="none" w="sm" len="sm"/>
          </a:ln>
          <a:effectLst>
            <a:outerShdw blurRad="40000" dist="20000" dir="5400000" rotWithShape="0">
              <a:srgbClr val="000000">
                <a:alpha val="38039"/>
              </a:srgbClr>
            </a:outerShdw>
          </a:effectLst>
        </p:spPr>
      </p:cxnSp>
      <p:sp>
        <p:nvSpPr>
          <p:cNvPr id="103" name="Google Shape;103;p16"/>
          <p:cNvSpPr/>
          <p:nvPr/>
        </p:nvSpPr>
        <p:spPr>
          <a:xfrm>
            <a:off x="6345936" y="2505456"/>
            <a:ext cx="566928" cy="566928"/>
          </a:xfrm>
          <a:prstGeom prst="ellipse">
            <a:avLst/>
          </a:prstGeom>
          <a:solidFill>
            <a:srgbClr val="1B2A4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Open Sans"/>
                <a:ea typeface="Open Sans"/>
                <a:cs typeface="Open Sans"/>
                <a:sym typeface="Open Sans"/>
              </a:rPr>
              <a:t>5</a:t>
            </a:r>
            <a:endParaRPr/>
          </a:p>
        </p:txBody>
      </p:sp>
      <p:sp>
        <p:nvSpPr>
          <p:cNvPr id="104" name="Google Shape;104;p16"/>
          <p:cNvSpPr txBox="1"/>
          <p:nvPr/>
        </p:nvSpPr>
        <p:spPr>
          <a:xfrm>
            <a:off x="5989320" y="3246120"/>
            <a:ext cx="1280160" cy="128016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250" b="1" i="0" u="none" strike="noStrike" cap="none">
                <a:solidFill>
                  <a:srgbClr val="1B2A4A"/>
                </a:solidFill>
                <a:latin typeface="Open Sans"/>
                <a:ea typeface="Open Sans"/>
                <a:cs typeface="Open Sans"/>
                <a:sym typeface="Open Sans"/>
              </a:rPr>
              <a:t>Code-along</a:t>
            </a:r>
            <a:endParaRPr/>
          </a:p>
          <a:p>
            <a:pPr marL="0" marR="0" lvl="0" indent="0" algn="ctr" rtl="0">
              <a:lnSpc>
                <a:spcPct val="110000"/>
              </a:lnSpc>
              <a:spcBef>
                <a:spcPts val="300"/>
              </a:spcBef>
              <a:spcAft>
                <a:spcPts val="0"/>
              </a:spcAft>
              <a:buNone/>
            </a:pPr>
            <a:r>
              <a:rPr lang="en-US" sz="1050" b="0" i="0" u="none" strike="noStrike" cap="none">
                <a:solidFill>
                  <a:srgbClr val="5F6368"/>
                </a:solidFill>
                <a:latin typeface="Open Sans"/>
                <a:ea typeface="Open Sans"/>
                <a:cs typeface="Open Sans"/>
                <a:sym typeface="Open Sans"/>
              </a:rPr>
              <a:t>Notebook, model.py, app.py</a:t>
            </a:r>
            <a:endParaRPr/>
          </a:p>
        </p:txBody>
      </p:sp>
      <p:sp>
        <p:nvSpPr>
          <p:cNvPr id="105" name="Google Shape;105;p16"/>
          <p:cNvSpPr/>
          <p:nvPr/>
        </p:nvSpPr>
        <p:spPr>
          <a:xfrm>
            <a:off x="7717536" y="2505456"/>
            <a:ext cx="566928" cy="566928"/>
          </a:xfrm>
          <a:prstGeom prst="ellipse">
            <a:avLst/>
          </a:prstGeom>
          <a:solidFill>
            <a:srgbClr val="C8102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FFFFF"/>
                </a:solidFill>
                <a:latin typeface="Open Sans"/>
                <a:ea typeface="Open Sans"/>
                <a:cs typeface="Open Sans"/>
                <a:sym typeface="Open Sans"/>
              </a:rPr>
              <a:t>6</a:t>
            </a:r>
            <a:endParaRPr/>
          </a:p>
        </p:txBody>
      </p:sp>
      <p:sp>
        <p:nvSpPr>
          <p:cNvPr id="106" name="Google Shape;106;p16"/>
          <p:cNvSpPr txBox="1"/>
          <p:nvPr/>
        </p:nvSpPr>
        <p:spPr>
          <a:xfrm>
            <a:off x="7360920" y="3246120"/>
            <a:ext cx="1280160" cy="128016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250" b="1" i="0" u="none" strike="noStrike" cap="none">
                <a:solidFill>
                  <a:srgbClr val="1B2A4A"/>
                </a:solidFill>
                <a:latin typeface="Open Sans"/>
                <a:ea typeface="Open Sans"/>
                <a:cs typeface="Open Sans"/>
                <a:sym typeface="Open Sans"/>
              </a:rPr>
              <a:t>Deploy</a:t>
            </a:r>
            <a:endParaRPr/>
          </a:p>
          <a:p>
            <a:pPr marL="0" marR="0" lvl="0" indent="0" algn="ctr" rtl="0">
              <a:lnSpc>
                <a:spcPct val="110000"/>
              </a:lnSpc>
              <a:spcBef>
                <a:spcPts val="300"/>
              </a:spcBef>
              <a:spcAft>
                <a:spcPts val="0"/>
              </a:spcAft>
              <a:buNone/>
            </a:pPr>
            <a:r>
              <a:rPr lang="en-US" sz="1050" b="0" i="0" u="none" strike="noStrike" cap="none">
                <a:solidFill>
                  <a:srgbClr val="5F6368"/>
                </a:solidFill>
                <a:latin typeface="Open Sans"/>
                <a:ea typeface="Open Sans"/>
                <a:cs typeface="Open Sans"/>
                <a:sym typeface="Open Sans"/>
              </a:rPr>
              <a:t>Streamlit Community Cloud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113" name="Google Shape;113;p17"/>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14" name="Google Shape;114;p17"/>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Linear Regression</a:t>
            </a:r>
            <a:endParaRPr sz="1100" b="0" i="0" u="none" strike="noStrike" cap="none">
              <a:solidFill>
                <a:srgbClr val="000000"/>
              </a:solidFill>
              <a:latin typeface="Arial"/>
              <a:ea typeface="Arial"/>
              <a:cs typeface="Arial"/>
              <a:sym typeface="Arial"/>
            </a:endParaRPr>
          </a:p>
        </p:txBody>
      </p:sp>
      <p:sp>
        <p:nvSpPr>
          <p:cNvPr id="115" name="Google Shape;115;p17"/>
          <p:cNvSpPr txBox="1"/>
          <p:nvPr/>
        </p:nvSpPr>
        <p:spPr>
          <a:xfrm>
            <a:off x="411480" y="685800"/>
            <a:ext cx="82296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16" name="Google Shape;116;p17"/>
          <p:cNvSpPr txBox="1"/>
          <p:nvPr/>
        </p:nvSpPr>
        <p:spPr>
          <a:xfrm>
            <a:off x="411480" y="2011680"/>
            <a:ext cx="7114032" cy="22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1" i="0" u="none" strike="noStrike" cap="none">
                <a:solidFill>
                  <a:srgbClr val="2C5697"/>
                </a:solidFill>
                <a:latin typeface="Open Sans"/>
                <a:ea typeface="Open Sans"/>
                <a:cs typeface="Open Sans"/>
                <a:sym typeface="Open Sans"/>
              </a:rPr>
              <a:t>Imagine you want to know if an HDB flat is priced fairly. Size matters, but so do location, floor level and the age of the lease.</a:t>
            </a:r>
            <a:endParaRPr sz="1300" b="1" i="0" u="none" strike="noStrike" cap="none">
              <a:solidFill>
                <a:srgbClr val="2C5697"/>
              </a:solidFill>
              <a:latin typeface="Open Sans"/>
              <a:ea typeface="Open Sans"/>
              <a:cs typeface="Open Sans"/>
              <a:sym typeface="Open Sans"/>
            </a:endParaRPr>
          </a:p>
          <a:p>
            <a:pPr marL="0" marR="0" lvl="0" indent="0" algn="l" rtl="0">
              <a:lnSpc>
                <a:spcPct val="115000"/>
              </a:lnSpc>
              <a:spcBef>
                <a:spcPts val="1000"/>
              </a:spcBef>
              <a:spcAft>
                <a:spcPts val="0"/>
              </a:spcAft>
              <a:buNone/>
            </a:pPr>
            <a:r>
              <a:rPr lang="en-US" sz="1200" b="0" i="0" u="none" strike="noStrike" cap="none">
                <a:solidFill>
                  <a:srgbClr val="1F1F1F"/>
                </a:solidFill>
                <a:latin typeface="Open Sans"/>
                <a:ea typeface="Open Sans"/>
                <a:cs typeface="Open Sans"/>
                <a:sym typeface="Open Sans"/>
              </a:rPr>
              <a:t>Linear regression finds the best straight line through the data. With several features it learns one weight per feature:  price = b₀ + b₁ × floor area + b₂ × storey + …</a:t>
            </a:r>
            <a:endParaRPr/>
          </a:p>
          <a:p>
            <a:pPr marL="0" marR="0" lvl="0" indent="0" algn="l" rtl="0">
              <a:lnSpc>
                <a:spcPct val="115000"/>
              </a:lnSpc>
              <a:spcBef>
                <a:spcPts val="1000"/>
              </a:spcBef>
              <a:spcAft>
                <a:spcPts val="0"/>
              </a:spcAft>
              <a:buNone/>
            </a:pPr>
            <a:r>
              <a:rPr lang="en-US" sz="1300" b="1" i="0" u="none" strike="noStrike" cap="none">
                <a:solidFill>
                  <a:srgbClr val="2C5697"/>
                </a:solidFill>
                <a:latin typeface="Open Sans"/>
                <a:ea typeface="Open Sans"/>
                <a:cs typeface="Open Sans"/>
                <a:sym typeface="Open Sans"/>
              </a:rPr>
              <a:t>The Goal: find the weights that make predictions as close as possible to the real prices.</a:t>
            </a:r>
            <a:endParaRPr/>
          </a:p>
          <a:p>
            <a:pPr marL="0" marR="0" lvl="0" indent="0" algn="l" rtl="0">
              <a:lnSpc>
                <a:spcPct val="115000"/>
              </a:lnSpc>
              <a:spcBef>
                <a:spcPts val="800"/>
              </a:spcBef>
              <a:spcAft>
                <a:spcPts val="0"/>
              </a:spcAft>
              <a:buNone/>
            </a:pPr>
            <a:r>
              <a:rPr lang="en-US" sz="1300" b="1" i="0" u="none" strike="noStrike" cap="none">
                <a:solidFill>
                  <a:srgbClr val="2C5697"/>
                </a:solidFill>
                <a:latin typeface="Open Sans"/>
                <a:ea typeface="Open Sans"/>
                <a:cs typeface="Open Sans"/>
                <a:sym typeface="Open Sans"/>
              </a:rPr>
              <a:t>The Prediction: plug a new flat's features into the formula.</a:t>
            </a:r>
            <a:endParaRPr/>
          </a:p>
          <a:p>
            <a:pPr marL="0" marR="0" lvl="0" indent="0" algn="l" rtl="0">
              <a:lnSpc>
                <a:spcPct val="115000"/>
              </a:lnSpc>
              <a:spcBef>
                <a:spcPts val="1000"/>
              </a:spcBef>
              <a:spcAft>
                <a:spcPts val="900"/>
              </a:spcAft>
              <a:buNone/>
            </a:pPr>
            <a:r>
              <a:rPr lang="en-US" sz="1200" b="0" i="0" u="none" strike="noStrike" cap="none">
                <a:solidFill>
                  <a:srgbClr val="1F1F1F"/>
                </a:solidFill>
                <a:latin typeface="Open Sans"/>
                <a:ea typeface="Open Sans"/>
                <a:cs typeface="Open Sans"/>
                <a:sym typeface="Open Sans"/>
              </a:rPr>
              <a:t>In our model, each extra sqm adds about S$3,800 and each extra storey about S$4,800. That easy-to-read output is linear regression's biggest strength.</a:t>
            </a:r>
            <a:endParaRPr/>
          </a:p>
        </p:txBody>
      </p:sp>
      <p:sp>
        <p:nvSpPr>
          <p:cNvPr id="117" name="Google Shape;117;p17"/>
          <p:cNvSpPr txBox="1"/>
          <p:nvPr/>
        </p:nvSpPr>
        <p:spPr>
          <a:xfrm>
            <a:off x="411475" y="1047375"/>
            <a:ext cx="6953100" cy="793800"/>
          </a:xfrm>
          <a:prstGeom prst="rect">
            <a:avLst/>
          </a:prstGeom>
          <a:solidFill>
            <a:srgbClr val="1B2A4A"/>
          </a:solidFill>
          <a:ln w="9525" cap="flat" cmpd="sng">
            <a:solidFill>
              <a:srgbClr val="4F81BD"/>
            </a:solidFill>
            <a:prstDash val="solid"/>
            <a:round/>
            <a:headEnd type="none" w="sm" len="sm"/>
            <a:tailEnd type="none" w="sm" len="sm"/>
          </a:ln>
        </p:spPr>
        <p:txBody>
          <a:bodyPr spcFirstLastPara="1" wrap="square" lIns="180000" tIns="180000" rIns="180000" bIns="18000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0" i="1" u="none" strike="noStrike" cap="none">
                <a:solidFill>
                  <a:schemeClr val="lt1"/>
                </a:solidFill>
                <a:latin typeface="Open Sans"/>
                <a:ea typeface="Open Sans"/>
                <a:cs typeface="Open Sans"/>
                <a:sym typeface="Open Sans"/>
              </a:rPr>
              <a:t>Linear Regression is used when you want to predict a continuous number (e.g., weight, price, temperature, salary).</a:t>
            </a:r>
            <a:endParaRPr sz="1300" b="0" i="1" u="none" strike="noStrike" cap="none">
              <a:solidFill>
                <a:schemeClr val="lt1"/>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8"/>
          <p:cNvSpPr txBox="1">
            <a:spLocks noGrp="1"/>
          </p:cNvSpPr>
          <p:nvPr>
            <p:ph type="title"/>
          </p:nvPr>
        </p:nvSpPr>
        <p:spPr>
          <a:xfrm>
            <a:off x="376550" y="147875"/>
            <a:ext cx="8310000" cy="759900"/>
          </a:xfrm>
          <a:prstGeom prst="rect">
            <a:avLst/>
          </a:prstGeom>
          <a:noFill/>
          <a:ln>
            <a:noFill/>
          </a:ln>
        </p:spPr>
        <p:txBody>
          <a:bodyPr spcFirstLastPara="1" wrap="square" lIns="68575" tIns="34275" rIns="68575" bIns="34275" anchor="ctr" anchorCtr="0">
            <a:normAutofit/>
          </a:bodyPr>
          <a:lstStyle/>
          <a:p>
            <a:pPr marL="0" lvl="0" indent="0" algn="l" rtl="0">
              <a:lnSpc>
                <a:spcPct val="115000"/>
              </a:lnSpc>
              <a:spcBef>
                <a:spcPts val="0"/>
              </a:spcBef>
              <a:spcAft>
                <a:spcPts val="0"/>
              </a:spcAft>
              <a:buSzPts val="1400"/>
              <a:buNone/>
            </a:pPr>
            <a:r>
              <a:rPr lang="en-US" b="1">
                <a:latin typeface="Open Sans"/>
                <a:ea typeface="Open Sans"/>
                <a:cs typeface="Open Sans"/>
                <a:sym typeface="Open Sans"/>
              </a:rPr>
              <a:t>Linear vs Logistic regression</a:t>
            </a:r>
            <a:endParaRPr b="1">
              <a:latin typeface="Open Sans"/>
              <a:ea typeface="Open Sans"/>
              <a:cs typeface="Open Sans"/>
              <a:sym typeface="Open Sans"/>
            </a:endParaRPr>
          </a:p>
        </p:txBody>
      </p:sp>
      <p:pic>
        <p:nvPicPr>
          <p:cNvPr id="123" name="Google Shape;123;p18" title="Gemini_Generated_Image_hwp5i3hwp5i3hwp5.png"/>
          <p:cNvPicPr preferRelativeResize="0"/>
          <p:nvPr/>
        </p:nvPicPr>
        <p:blipFill rotWithShape="1">
          <a:blip r:embed="rId3">
            <a:alphaModFix/>
          </a:blip>
          <a:srcRect l="3041" t="5099" r="3088" b="5135"/>
          <a:stretch/>
        </p:blipFill>
        <p:spPr>
          <a:xfrm>
            <a:off x="1041403" y="1080850"/>
            <a:ext cx="7061202" cy="3463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130" name="Google Shape;130;p19"/>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31" name="Google Shape;131;p19"/>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Difference : Linear vs Logistic regression</a:t>
            </a:r>
            <a:endParaRPr sz="1100" b="0" i="0" u="none" strike="noStrike" cap="none">
              <a:solidFill>
                <a:srgbClr val="000000"/>
              </a:solidFill>
              <a:latin typeface="Arial"/>
              <a:ea typeface="Arial"/>
              <a:cs typeface="Arial"/>
              <a:sym typeface="Arial"/>
            </a:endParaRPr>
          </a:p>
        </p:txBody>
      </p:sp>
      <p:graphicFrame>
        <p:nvGraphicFramePr>
          <p:cNvPr id="132" name="Google Shape;132;p19"/>
          <p:cNvGraphicFramePr/>
          <p:nvPr/>
        </p:nvGraphicFramePr>
        <p:xfrm>
          <a:off x="672488" y="1052238"/>
          <a:ext cx="3000000" cy="3000000"/>
        </p:xfrm>
        <a:graphic>
          <a:graphicData uri="http://schemas.openxmlformats.org/drawingml/2006/table">
            <a:tbl>
              <a:tblPr>
                <a:noFill/>
                <a:tableStyleId>{894B10DC-2A97-4701-8D3A-C7F3630570D0}</a:tableStyleId>
              </a:tblPr>
              <a:tblGrid>
                <a:gridCol w="1924825">
                  <a:extLst>
                    <a:ext uri="{9D8B030D-6E8A-4147-A177-3AD203B41FA5}">
                      <a16:colId xmlns:a16="http://schemas.microsoft.com/office/drawing/2014/main" val="20000"/>
                    </a:ext>
                  </a:extLst>
                </a:gridCol>
                <a:gridCol w="2879025">
                  <a:extLst>
                    <a:ext uri="{9D8B030D-6E8A-4147-A177-3AD203B41FA5}">
                      <a16:colId xmlns:a16="http://schemas.microsoft.com/office/drawing/2014/main" val="20001"/>
                    </a:ext>
                  </a:extLst>
                </a:gridCol>
                <a:gridCol w="2903700">
                  <a:extLst>
                    <a:ext uri="{9D8B030D-6E8A-4147-A177-3AD203B41FA5}">
                      <a16:colId xmlns:a16="http://schemas.microsoft.com/office/drawing/2014/main" val="20002"/>
                    </a:ext>
                  </a:extLst>
                </a:gridCol>
              </a:tblGrid>
              <a:tr h="626650">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t>Feature</a:t>
                      </a:r>
                      <a:endParaRPr sz="1400" b="1"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t>Linear Regression</a:t>
                      </a:r>
                      <a:endParaRPr sz="1400" b="1"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t>Logistic Regression</a:t>
                      </a:r>
                      <a:endParaRPr sz="1400" b="1"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0"/>
                  </a:ext>
                </a:extLst>
              </a:tr>
              <a:tr h="810950">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t>What does it predict?</a:t>
                      </a:r>
                      <a:endParaRPr sz="1400" b="1"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t>A specific, continuous </a:t>
                      </a:r>
                      <a:r>
                        <a:rPr lang="en-US" sz="1400" b="1" u="none" strike="noStrike" cap="none"/>
                        <a:t>value/number</a:t>
                      </a:r>
                      <a:r>
                        <a:rPr lang="en-US" sz="1400" u="none" strike="noStrike" cap="none"/>
                        <a:t>.</a:t>
                      </a:r>
                      <a:endParaRPr sz="1400"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t>A </a:t>
                      </a:r>
                      <a:r>
                        <a:rPr lang="en-US" sz="1400" b="1" u="none" strike="noStrike" cap="none"/>
                        <a:t>probability</a:t>
                      </a:r>
                      <a:r>
                        <a:rPr lang="en-US" sz="1400" u="none" strike="noStrike" cap="none"/>
                        <a:t> that leads to a Yes/No category.</a:t>
                      </a:r>
                      <a:endParaRPr sz="1400"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921525">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t>What does the line look like?</a:t>
                      </a:r>
                      <a:endParaRPr sz="1400" b="1"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t>A straight line going up or down.</a:t>
                      </a:r>
                      <a:endParaRPr sz="1800"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t>An S-shaped curve that flattens at 0 and 1</a:t>
                      </a:r>
                      <a:r>
                        <a:rPr lang="en-US" sz="1800" u="none" strike="noStrike" cap="none"/>
                        <a:t>.</a:t>
                      </a:r>
                      <a:endParaRPr sz="1800"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810950">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t>Example</a:t>
                      </a:r>
                      <a:endParaRPr sz="1400" b="1"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t>Predicting how many marks a student will score.</a:t>
                      </a:r>
                      <a:endParaRPr sz="1400"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t>Predicting whether a student will Pass or Fail.</a:t>
                      </a:r>
                      <a:endParaRPr sz="1400" u="none" strike="noStrike" cap="none"/>
                    </a:p>
                  </a:txBody>
                  <a:tcPr marL="114300" marR="114300" marT="76200" marB="76200">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138" name="Google Shape;138;p20"/>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39" name="Google Shape;139;p20"/>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Beyond straight lines: decision trees</a:t>
            </a:r>
            <a:endParaRPr sz="1100" b="0" i="0" u="none" strike="noStrike" cap="none">
              <a:solidFill>
                <a:srgbClr val="000000"/>
              </a:solidFill>
              <a:latin typeface="Arial"/>
              <a:ea typeface="Arial"/>
              <a:cs typeface="Arial"/>
              <a:sym typeface="Arial"/>
            </a:endParaRPr>
          </a:p>
        </p:txBody>
      </p:sp>
      <p:sp>
        <p:nvSpPr>
          <p:cNvPr id="140" name="Google Shape;140;p20"/>
          <p:cNvSpPr txBox="1"/>
          <p:nvPr/>
        </p:nvSpPr>
        <p:spPr>
          <a:xfrm>
            <a:off x="411480" y="685800"/>
            <a:ext cx="82296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41" name="Google Shape;141;p20"/>
          <p:cNvSpPr txBox="1"/>
          <p:nvPr/>
        </p:nvSpPr>
        <p:spPr>
          <a:xfrm>
            <a:off x="411480" y="2011680"/>
            <a:ext cx="4023360" cy="22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1" i="0" u="none" strike="noStrike" cap="none">
                <a:solidFill>
                  <a:srgbClr val="2C5697"/>
                </a:solidFill>
                <a:latin typeface="Open Sans"/>
                <a:ea typeface="Open Sans"/>
                <a:cs typeface="Open Sans"/>
                <a:sym typeface="Open Sans"/>
              </a:rPr>
              <a:t>Why we need it</a:t>
            </a:r>
            <a:endParaRPr sz="1300" b="1" i="0" u="none" strike="noStrike" cap="none">
              <a:solidFill>
                <a:srgbClr val="2C5697"/>
              </a:solidFill>
              <a:latin typeface="Open Sans"/>
              <a:ea typeface="Open Sans"/>
              <a:cs typeface="Open Sans"/>
              <a:sym typeface="Open Sans"/>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Price does not rise in a straight line with lease year or storey, and an extra sqm is worth more in Bishan than in Woodlands. Trees capture these curves and interactions automatically.</a:t>
            </a:r>
            <a:endParaRPr/>
          </a:p>
          <a:p>
            <a:pPr marL="0" marR="0" lvl="0" indent="0" algn="l" rtl="0">
              <a:lnSpc>
                <a:spcPct val="115000"/>
              </a:lnSpc>
              <a:spcBef>
                <a:spcPts val="1000"/>
              </a:spcBef>
              <a:spcAft>
                <a:spcPts val="0"/>
              </a:spcAft>
              <a:buNone/>
            </a:pPr>
            <a:r>
              <a:rPr lang="en-US" sz="1300" b="1" i="0" u="none" strike="noStrike" cap="none">
                <a:solidFill>
                  <a:srgbClr val="2C5697"/>
                </a:solidFill>
                <a:latin typeface="Open Sans"/>
                <a:ea typeface="Open Sans"/>
                <a:cs typeface="Open Sans"/>
                <a:sym typeface="Open Sans"/>
              </a:rPr>
              <a:t>The catch</a:t>
            </a:r>
            <a:endParaRPr/>
          </a:p>
          <a:p>
            <a:pPr marL="0" marR="0" lvl="0" indent="0" algn="l" rtl="0">
              <a:lnSpc>
                <a:spcPct val="115000"/>
              </a:lnSpc>
              <a:spcBef>
                <a:spcPts val="200"/>
              </a:spcBef>
              <a:spcAft>
                <a:spcPts val="900"/>
              </a:spcAft>
              <a:buNone/>
            </a:pPr>
            <a:r>
              <a:rPr lang="en-US" sz="1200" b="0" i="0" u="none" strike="noStrike" cap="none">
                <a:solidFill>
                  <a:srgbClr val="1F1F1F"/>
                </a:solidFill>
                <a:latin typeface="Open Sans"/>
                <a:ea typeface="Open Sans"/>
                <a:cs typeface="Open Sans"/>
                <a:sym typeface="Open Sans"/>
              </a:rPr>
              <a:t>One deep tree memorises the training data (overfitting). Combining many trees fixes this. That is exactly what Random Forest and Gradient Boosting do.</a:t>
            </a:r>
            <a:endParaRPr/>
          </a:p>
        </p:txBody>
      </p:sp>
      <p:sp>
        <p:nvSpPr>
          <p:cNvPr id="142" name="Google Shape;142;p20"/>
          <p:cNvSpPr txBox="1"/>
          <p:nvPr/>
        </p:nvSpPr>
        <p:spPr>
          <a:xfrm>
            <a:off x="411475" y="1047375"/>
            <a:ext cx="6953100" cy="793800"/>
          </a:xfrm>
          <a:prstGeom prst="rect">
            <a:avLst/>
          </a:prstGeom>
          <a:solidFill>
            <a:srgbClr val="1B2A4A"/>
          </a:solidFill>
          <a:ln w="9525" cap="flat" cmpd="sng">
            <a:solidFill>
              <a:srgbClr val="4F81BD"/>
            </a:solidFill>
            <a:prstDash val="solid"/>
            <a:round/>
            <a:headEnd type="none" w="sm" len="sm"/>
            <a:tailEnd type="none" w="sm" len="sm"/>
          </a:ln>
        </p:spPr>
        <p:txBody>
          <a:bodyPr spcFirstLastPara="1" wrap="square" lIns="180000" tIns="180000" rIns="180000" bIns="18000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0" i="1" u="none" strike="noStrike" cap="none">
                <a:solidFill>
                  <a:srgbClr val="FFFFFF"/>
                </a:solidFill>
                <a:latin typeface="Open Sans"/>
                <a:ea typeface="Open Sans"/>
                <a:cs typeface="Open Sans"/>
                <a:sym typeface="Open Sans"/>
              </a:rPr>
              <a:t>A decision tree predicts by asking yes/no questions about the flat, then returning the average price of similar flats in the training data.</a:t>
            </a:r>
            <a:endParaRPr sz="1300" b="0" i="1" u="none" strike="noStrike" cap="none">
              <a:solidFill>
                <a:schemeClr val="lt1"/>
              </a:solidFill>
              <a:latin typeface="Open Sans"/>
              <a:ea typeface="Open Sans"/>
              <a:cs typeface="Open Sans"/>
              <a:sym typeface="Open Sans"/>
            </a:endParaRPr>
          </a:p>
        </p:txBody>
      </p:sp>
      <p:sp>
        <p:nvSpPr>
          <p:cNvPr id="143" name="Google Shape;143;p20"/>
          <p:cNvSpPr/>
          <p:nvPr/>
        </p:nvSpPr>
        <p:spPr>
          <a:xfrm>
            <a:off x="5669279" y="2103120"/>
            <a:ext cx="2103120" cy="438912"/>
          </a:xfrm>
          <a:prstGeom prst="roundRect">
            <a:avLst>
              <a:gd name="adj" fmla="val 12000"/>
            </a:avLst>
          </a:prstGeom>
          <a:solidFill>
            <a:srgbClr val="1B2A4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Open Sans"/>
                <a:ea typeface="Open Sans"/>
                <a:cs typeface="Open Sans"/>
                <a:sym typeface="Open Sans"/>
              </a:rPr>
              <a:t>Floor area &gt; 100 sqm?</a:t>
            </a:r>
            <a:endParaRPr/>
          </a:p>
        </p:txBody>
      </p:sp>
      <p:sp>
        <p:nvSpPr>
          <p:cNvPr id="144" name="Google Shape;144;p20"/>
          <p:cNvSpPr/>
          <p:nvPr/>
        </p:nvSpPr>
        <p:spPr>
          <a:xfrm>
            <a:off x="4754880" y="2926080"/>
            <a:ext cx="1828800" cy="438912"/>
          </a:xfrm>
          <a:prstGeom prst="roundRect">
            <a:avLst>
              <a:gd name="adj" fmla="val 12000"/>
            </a:avLst>
          </a:prstGeom>
          <a:solidFill>
            <a:srgbClr val="1B2A4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Open Sans"/>
                <a:ea typeface="Open Sans"/>
                <a:cs typeface="Open Sans"/>
                <a:sym typeface="Open Sans"/>
              </a:rPr>
              <a:t>Lease after 1995?</a:t>
            </a:r>
            <a:endParaRPr/>
          </a:p>
        </p:txBody>
      </p:sp>
      <p:sp>
        <p:nvSpPr>
          <p:cNvPr id="145" name="Google Shape;145;p20"/>
          <p:cNvSpPr/>
          <p:nvPr/>
        </p:nvSpPr>
        <p:spPr>
          <a:xfrm>
            <a:off x="6858000" y="2926080"/>
            <a:ext cx="1828800" cy="438912"/>
          </a:xfrm>
          <a:prstGeom prst="roundRect">
            <a:avLst>
              <a:gd name="adj" fmla="val 12000"/>
            </a:avLst>
          </a:prstGeom>
          <a:solidFill>
            <a:srgbClr val="1B2A4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FFFFFF"/>
                </a:solidFill>
                <a:latin typeface="Open Sans"/>
                <a:ea typeface="Open Sans"/>
                <a:cs typeface="Open Sans"/>
                <a:sym typeface="Open Sans"/>
              </a:rPr>
              <a:t>Central town?</a:t>
            </a:r>
            <a:endParaRPr/>
          </a:p>
        </p:txBody>
      </p:sp>
      <p:sp>
        <p:nvSpPr>
          <p:cNvPr id="146" name="Google Shape;146;p20"/>
          <p:cNvSpPr/>
          <p:nvPr/>
        </p:nvSpPr>
        <p:spPr>
          <a:xfrm>
            <a:off x="4727448" y="3749039"/>
            <a:ext cx="877824" cy="384048"/>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1B2A4A"/>
                </a:solidFill>
                <a:latin typeface="Open Sans"/>
                <a:ea typeface="Open Sans"/>
                <a:cs typeface="Open Sans"/>
                <a:sym typeface="Open Sans"/>
              </a:rPr>
              <a:t>S$330k</a:t>
            </a:r>
            <a:endParaRPr/>
          </a:p>
        </p:txBody>
      </p:sp>
      <p:sp>
        <p:nvSpPr>
          <p:cNvPr id="147" name="Google Shape;147;p20"/>
          <p:cNvSpPr/>
          <p:nvPr/>
        </p:nvSpPr>
        <p:spPr>
          <a:xfrm>
            <a:off x="5733288" y="3749039"/>
            <a:ext cx="877824" cy="384048"/>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1B2A4A"/>
                </a:solidFill>
                <a:latin typeface="Open Sans"/>
                <a:ea typeface="Open Sans"/>
                <a:cs typeface="Open Sans"/>
                <a:sym typeface="Open Sans"/>
              </a:rPr>
              <a:t>S$430k</a:t>
            </a:r>
            <a:endParaRPr/>
          </a:p>
        </p:txBody>
      </p:sp>
      <p:sp>
        <p:nvSpPr>
          <p:cNvPr id="148" name="Google Shape;148;p20"/>
          <p:cNvSpPr/>
          <p:nvPr/>
        </p:nvSpPr>
        <p:spPr>
          <a:xfrm>
            <a:off x="6830568" y="3749039"/>
            <a:ext cx="877824" cy="384048"/>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1B2A4A"/>
                </a:solidFill>
                <a:latin typeface="Open Sans"/>
                <a:ea typeface="Open Sans"/>
                <a:cs typeface="Open Sans"/>
                <a:sym typeface="Open Sans"/>
              </a:rPr>
              <a:t>S$560k</a:t>
            </a:r>
            <a:endParaRPr/>
          </a:p>
        </p:txBody>
      </p:sp>
      <p:sp>
        <p:nvSpPr>
          <p:cNvPr id="149" name="Google Shape;149;p20"/>
          <p:cNvSpPr/>
          <p:nvPr/>
        </p:nvSpPr>
        <p:spPr>
          <a:xfrm>
            <a:off x="7836408" y="3749039"/>
            <a:ext cx="877824" cy="384048"/>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100" b="1" i="0" u="none" strike="noStrike" cap="none">
                <a:solidFill>
                  <a:srgbClr val="1B2A4A"/>
                </a:solidFill>
                <a:latin typeface="Open Sans"/>
                <a:ea typeface="Open Sans"/>
                <a:cs typeface="Open Sans"/>
                <a:sym typeface="Open Sans"/>
              </a:rPr>
              <a:t>S$720k</a:t>
            </a:r>
            <a:endParaRPr/>
          </a:p>
        </p:txBody>
      </p:sp>
      <p:cxnSp>
        <p:nvCxnSpPr>
          <p:cNvPr id="150" name="Google Shape;150;p20"/>
          <p:cNvCxnSpPr/>
          <p:nvPr/>
        </p:nvCxnSpPr>
        <p:spPr>
          <a:xfrm flipH="1">
            <a:off x="5669280" y="2542032"/>
            <a:ext cx="1051560" cy="384048"/>
          </a:xfrm>
          <a:prstGeom prst="straightConnector1">
            <a:avLst/>
          </a:prstGeom>
          <a:noFill/>
          <a:ln w="15875" cap="flat" cmpd="sng">
            <a:solidFill>
              <a:srgbClr val="9AA0A6"/>
            </a:solidFill>
            <a:prstDash val="solid"/>
            <a:round/>
            <a:headEnd type="none" w="sm" len="sm"/>
            <a:tailEnd type="none" w="sm" len="sm"/>
          </a:ln>
          <a:effectLst>
            <a:outerShdw blurRad="40000" dist="20000" dir="5400000" rotWithShape="0">
              <a:srgbClr val="000000">
                <a:alpha val="38039"/>
              </a:srgbClr>
            </a:outerShdw>
          </a:effectLst>
        </p:spPr>
      </p:cxnSp>
      <p:cxnSp>
        <p:nvCxnSpPr>
          <p:cNvPr id="151" name="Google Shape;151;p20"/>
          <p:cNvCxnSpPr/>
          <p:nvPr/>
        </p:nvCxnSpPr>
        <p:spPr>
          <a:xfrm>
            <a:off x="6720840" y="2542032"/>
            <a:ext cx="1051560" cy="384048"/>
          </a:xfrm>
          <a:prstGeom prst="straightConnector1">
            <a:avLst/>
          </a:prstGeom>
          <a:noFill/>
          <a:ln w="15875" cap="flat" cmpd="sng">
            <a:solidFill>
              <a:srgbClr val="9AA0A6"/>
            </a:solidFill>
            <a:prstDash val="solid"/>
            <a:round/>
            <a:headEnd type="none" w="sm" len="sm"/>
            <a:tailEnd type="none" w="sm" len="sm"/>
          </a:ln>
          <a:effectLst>
            <a:outerShdw blurRad="40000" dist="20000" dir="5400000" rotWithShape="0">
              <a:srgbClr val="000000">
                <a:alpha val="38039"/>
              </a:srgbClr>
            </a:outerShdw>
          </a:effectLst>
        </p:spPr>
      </p:cxnSp>
      <p:cxnSp>
        <p:nvCxnSpPr>
          <p:cNvPr id="152" name="Google Shape;152;p20"/>
          <p:cNvCxnSpPr/>
          <p:nvPr/>
        </p:nvCxnSpPr>
        <p:spPr>
          <a:xfrm flipH="1">
            <a:off x="5166360" y="3364992"/>
            <a:ext cx="502920" cy="384047"/>
          </a:xfrm>
          <a:prstGeom prst="straightConnector1">
            <a:avLst/>
          </a:prstGeom>
          <a:noFill/>
          <a:ln w="15875" cap="flat" cmpd="sng">
            <a:solidFill>
              <a:srgbClr val="9AA0A6"/>
            </a:solidFill>
            <a:prstDash val="solid"/>
            <a:round/>
            <a:headEnd type="none" w="sm" len="sm"/>
            <a:tailEnd type="none" w="sm" len="sm"/>
          </a:ln>
          <a:effectLst>
            <a:outerShdw blurRad="40000" dist="20000" dir="5400000" rotWithShape="0">
              <a:srgbClr val="000000">
                <a:alpha val="38039"/>
              </a:srgbClr>
            </a:outerShdw>
          </a:effectLst>
        </p:spPr>
      </p:cxnSp>
      <p:cxnSp>
        <p:nvCxnSpPr>
          <p:cNvPr id="153" name="Google Shape;153;p20"/>
          <p:cNvCxnSpPr/>
          <p:nvPr/>
        </p:nvCxnSpPr>
        <p:spPr>
          <a:xfrm>
            <a:off x="5669280" y="3364992"/>
            <a:ext cx="502920" cy="384047"/>
          </a:xfrm>
          <a:prstGeom prst="straightConnector1">
            <a:avLst/>
          </a:prstGeom>
          <a:noFill/>
          <a:ln w="15875" cap="flat" cmpd="sng">
            <a:solidFill>
              <a:srgbClr val="9AA0A6"/>
            </a:solidFill>
            <a:prstDash val="solid"/>
            <a:round/>
            <a:headEnd type="none" w="sm" len="sm"/>
            <a:tailEnd type="none" w="sm" len="sm"/>
          </a:ln>
          <a:effectLst>
            <a:outerShdw blurRad="40000" dist="20000" dir="5400000" rotWithShape="0">
              <a:srgbClr val="000000">
                <a:alpha val="38039"/>
              </a:srgbClr>
            </a:outerShdw>
          </a:effectLst>
        </p:spPr>
      </p:cxnSp>
      <p:cxnSp>
        <p:nvCxnSpPr>
          <p:cNvPr id="154" name="Google Shape;154;p20"/>
          <p:cNvCxnSpPr/>
          <p:nvPr/>
        </p:nvCxnSpPr>
        <p:spPr>
          <a:xfrm flipH="1">
            <a:off x="7269480" y="3364992"/>
            <a:ext cx="502920" cy="384047"/>
          </a:xfrm>
          <a:prstGeom prst="straightConnector1">
            <a:avLst/>
          </a:prstGeom>
          <a:noFill/>
          <a:ln w="15875" cap="flat" cmpd="sng">
            <a:solidFill>
              <a:srgbClr val="9AA0A6"/>
            </a:solidFill>
            <a:prstDash val="solid"/>
            <a:round/>
            <a:headEnd type="none" w="sm" len="sm"/>
            <a:tailEnd type="none" w="sm" len="sm"/>
          </a:ln>
          <a:effectLst>
            <a:outerShdw blurRad="40000" dist="20000" dir="5400000" rotWithShape="0">
              <a:srgbClr val="000000">
                <a:alpha val="38039"/>
              </a:srgbClr>
            </a:outerShdw>
          </a:effectLst>
        </p:spPr>
      </p:cxnSp>
      <p:cxnSp>
        <p:nvCxnSpPr>
          <p:cNvPr id="155" name="Google Shape;155;p20"/>
          <p:cNvCxnSpPr/>
          <p:nvPr/>
        </p:nvCxnSpPr>
        <p:spPr>
          <a:xfrm>
            <a:off x="7772400" y="3364992"/>
            <a:ext cx="502920" cy="384047"/>
          </a:xfrm>
          <a:prstGeom prst="straightConnector1">
            <a:avLst/>
          </a:prstGeom>
          <a:noFill/>
          <a:ln w="15875" cap="flat" cmpd="sng">
            <a:solidFill>
              <a:srgbClr val="9AA0A6"/>
            </a:solidFill>
            <a:prstDash val="solid"/>
            <a:round/>
            <a:headEnd type="none" w="sm" len="sm"/>
            <a:tailEnd type="none" w="sm" len="sm"/>
          </a:ln>
          <a:effectLst>
            <a:outerShdw blurRad="40000" dist="20000" dir="5400000" rotWithShape="0">
              <a:srgbClr val="000000">
                <a:alpha val="38039"/>
              </a:srgbClr>
            </a:outerShdw>
          </a:effectLst>
        </p:spPr>
      </p:cxnSp>
      <p:sp>
        <p:nvSpPr>
          <p:cNvPr id="156" name="Google Shape;156;p20"/>
          <p:cNvSpPr txBox="1"/>
          <p:nvPr/>
        </p:nvSpPr>
        <p:spPr>
          <a:xfrm>
            <a:off x="5897880" y="2560320"/>
            <a:ext cx="36576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1" i="0" u="none" strike="noStrike" cap="none">
                <a:solidFill>
                  <a:srgbClr val="5F6368"/>
                </a:solidFill>
                <a:latin typeface="Open Sans"/>
                <a:ea typeface="Open Sans"/>
                <a:cs typeface="Open Sans"/>
                <a:sym typeface="Open Sans"/>
              </a:rPr>
              <a:t>No</a:t>
            </a:r>
            <a:endParaRPr/>
          </a:p>
        </p:txBody>
      </p:sp>
      <p:sp>
        <p:nvSpPr>
          <p:cNvPr id="157" name="Google Shape;157;p20"/>
          <p:cNvSpPr txBox="1"/>
          <p:nvPr/>
        </p:nvSpPr>
        <p:spPr>
          <a:xfrm>
            <a:off x="7269480" y="2560320"/>
            <a:ext cx="36576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1" i="0" u="none" strike="noStrike" cap="none">
                <a:solidFill>
                  <a:srgbClr val="5F6368"/>
                </a:solidFill>
                <a:latin typeface="Open Sans"/>
                <a:ea typeface="Open Sans"/>
                <a:cs typeface="Open Sans"/>
                <a:sym typeface="Open Sans"/>
              </a:rPr>
              <a:t>Yes</a:t>
            </a:r>
            <a:endParaRPr/>
          </a:p>
        </p:txBody>
      </p:sp>
      <p:sp>
        <p:nvSpPr>
          <p:cNvPr id="158" name="Google Shape;158;p20"/>
          <p:cNvSpPr txBox="1"/>
          <p:nvPr/>
        </p:nvSpPr>
        <p:spPr>
          <a:xfrm>
            <a:off x="4983480" y="3401568"/>
            <a:ext cx="36576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1" i="0" u="none" strike="noStrike" cap="none">
                <a:solidFill>
                  <a:srgbClr val="5F6368"/>
                </a:solidFill>
                <a:latin typeface="Open Sans"/>
                <a:ea typeface="Open Sans"/>
                <a:cs typeface="Open Sans"/>
                <a:sym typeface="Open Sans"/>
              </a:rPr>
              <a:t>No</a:t>
            </a:r>
            <a:endParaRPr/>
          </a:p>
        </p:txBody>
      </p:sp>
      <p:sp>
        <p:nvSpPr>
          <p:cNvPr id="159" name="Google Shape;159;p20"/>
          <p:cNvSpPr txBox="1"/>
          <p:nvPr/>
        </p:nvSpPr>
        <p:spPr>
          <a:xfrm>
            <a:off x="6172200" y="3401568"/>
            <a:ext cx="36576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1" i="0" u="none" strike="noStrike" cap="none">
                <a:solidFill>
                  <a:srgbClr val="5F6368"/>
                </a:solidFill>
                <a:latin typeface="Open Sans"/>
                <a:ea typeface="Open Sans"/>
                <a:cs typeface="Open Sans"/>
                <a:sym typeface="Open Sans"/>
              </a:rPr>
              <a:t>Yes</a:t>
            </a:r>
            <a:endParaRPr/>
          </a:p>
        </p:txBody>
      </p:sp>
      <p:sp>
        <p:nvSpPr>
          <p:cNvPr id="160" name="Google Shape;160;p20"/>
          <p:cNvSpPr txBox="1"/>
          <p:nvPr/>
        </p:nvSpPr>
        <p:spPr>
          <a:xfrm>
            <a:off x="7086600" y="3401568"/>
            <a:ext cx="36576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1" i="0" u="none" strike="noStrike" cap="none">
                <a:solidFill>
                  <a:srgbClr val="5F6368"/>
                </a:solidFill>
                <a:latin typeface="Open Sans"/>
                <a:ea typeface="Open Sans"/>
                <a:cs typeface="Open Sans"/>
                <a:sym typeface="Open Sans"/>
              </a:rPr>
              <a:t>No</a:t>
            </a:r>
            <a:endParaRPr/>
          </a:p>
        </p:txBody>
      </p:sp>
      <p:sp>
        <p:nvSpPr>
          <p:cNvPr id="161" name="Google Shape;161;p20"/>
          <p:cNvSpPr txBox="1"/>
          <p:nvPr/>
        </p:nvSpPr>
        <p:spPr>
          <a:xfrm>
            <a:off x="8275320" y="3401568"/>
            <a:ext cx="365760"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00" b="1" i="0" u="none" strike="noStrike" cap="none">
                <a:solidFill>
                  <a:srgbClr val="5F6368"/>
                </a:solidFill>
                <a:latin typeface="Open Sans"/>
                <a:ea typeface="Open Sans"/>
                <a:cs typeface="Open Sans"/>
                <a:sym typeface="Open Sans"/>
              </a:rPr>
              <a:t>Yes</a:t>
            </a:r>
            <a:endParaRPr/>
          </a:p>
        </p:txBody>
      </p:sp>
      <p:sp>
        <p:nvSpPr>
          <p:cNvPr id="162" name="Google Shape;162;p20"/>
          <p:cNvSpPr txBox="1"/>
          <p:nvPr/>
        </p:nvSpPr>
        <p:spPr>
          <a:xfrm>
            <a:off x="4709160" y="4251960"/>
            <a:ext cx="4023360" cy="4572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950" b="0" i="1" u="none" strike="noStrike" cap="none">
                <a:solidFill>
                  <a:srgbClr val="5F6368"/>
                </a:solidFill>
                <a:latin typeface="Open Sans"/>
                <a:ea typeface="Open Sans"/>
                <a:cs typeface="Open Sans"/>
                <a:sym typeface="Open Sans"/>
              </a:rPr>
              <a:t>Illustrative example: each leaf predicts the average price of the training flats that end up there.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168" name="Google Shape;168;p21"/>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69" name="Google Shape;169;p21"/>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Three models, three ways to learn</a:t>
            </a:r>
            <a:endParaRPr sz="1100" b="0" i="0" u="none" strike="noStrike" cap="none">
              <a:solidFill>
                <a:srgbClr val="000000"/>
              </a:solidFill>
              <a:latin typeface="Arial"/>
              <a:ea typeface="Arial"/>
              <a:cs typeface="Arial"/>
              <a:sym typeface="Arial"/>
            </a:endParaRPr>
          </a:p>
        </p:txBody>
      </p:sp>
      <p:graphicFrame>
        <p:nvGraphicFramePr>
          <p:cNvPr id="170" name="Google Shape;170;p21"/>
          <p:cNvGraphicFramePr/>
          <p:nvPr/>
        </p:nvGraphicFramePr>
        <p:xfrm>
          <a:off x="411479" y="868680"/>
          <a:ext cx="3000000" cy="3000000"/>
        </p:xfrm>
        <a:graphic>
          <a:graphicData uri="http://schemas.openxmlformats.org/drawingml/2006/table">
            <a:tbl>
              <a:tblPr>
                <a:noFill/>
                <a:tableStyleId>{894B10DC-2A97-4701-8D3A-C7F3630570D0}</a:tableStyleId>
              </a:tblPr>
              <a:tblGrid>
                <a:gridCol w="1434525">
                  <a:extLst>
                    <a:ext uri="{9D8B030D-6E8A-4147-A177-3AD203B41FA5}">
                      <a16:colId xmlns:a16="http://schemas.microsoft.com/office/drawing/2014/main" val="20000"/>
                    </a:ext>
                  </a:extLst>
                </a:gridCol>
                <a:gridCol w="2313775">
                  <a:extLst>
                    <a:ext uri="{9D8B030D-6E8A-4147-A177-3AD203B41FA5}">
                      <a16:colId xmlns:a16="http://schemas.microsoft.com/office/drawing/2014/main" val="20001"/>
                    </a:ext>
                  </a:extLst>
                </a:gridCol>
                <a:gridCol w="2313775">
                  <a:extLst>
                    <a:ext uri="{9D8B030D-6E8A-4147-A177-3AD203B41FA5}">
                      <a16:colId xmlns:a16="http://schemas.microsoft.com/office/drawing/2014/main" val="20002"/>
                    </a:ext>
                  </a:extLst>
                </a:gridCol>
                <a:gridCol w="2313775">
                  <a:extLst>
                    <a:ext uri="{9D8B030D-6E8A-4147-A177-3AD203B41FA5}">
                      <a16:colId xmlns:a16="http://schemas.microsoft.com/office/drawing/2014/main" val="20003"/>
                    </a:ext>
                  </a:extLst>
                </a:gridCol>
              </a:tblGrid>
              <a:tr h="409600">
                <a:tc>
                  <a:txBody>
                    <a:bodyPr/>
                    <a:lstStyle/>
                    <a:p>
                      <a:pPr marL="0" marR="0" lvl="0" indent="0" algn="l" rtl="0">
                        <a:lnSpc>
                          <a:spcPct val="110000"/>
                        </a:lnSpc>
                        <a:spcBef>
                          <a:spcPts val="0"/>
                        </a:spcBef>
                        <a:spcAft>
                          <a:spcPts val="0"/>
                        </a:spcAft>
                        <a:buClr>
                          <a:srgbClr val="000000"/>
                        </a:buClr>
                        <a:buSzPts val="1800"/>
                        <a:buFont typeface="Arial"/>
                        <a:buNone/>
                      </a:pP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B2A4A"/>
                          </a:solidFill>
                          <a:latin typeface="Open Sans"/>
                          <a:ea typeface="Open Sans"/>
                          <a:cs typeface="Open Sans"/>
                          <a:sym typeface="Open Sans"/>
                        </a:rPr>
                        <a:t>Linear Regression</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B2A4A"/>
                          </a:solidFill>
                          <a:latin typeface="Open Sans"/>
                          <a:ea typeface="Open Sans"/>
                          <a:cs typeface="Open Sans"/>
                          <a:sym typeface="Open Sans"/>
                        </a:rPr>
                        <a:t>Random Forest</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B2A4A"/>
                          </a:solidFill>
                          <a:latin typeface="Open Sans"/>
                          <a:ea typeface="Open Sans"/>
                          <a:cs typeface="Open Sans"/>
                          <a:sym typeface="Open Sans"/>
                        </a:rPr>
                        <a:t>Gradient Boosting</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extLst>
                  <a:ext uri="{0D108BD9-81ED-4DB2-BD59-A6C34878D82A}">
                    <a16:rowId xmlns:a16="http://schemas.microsoft.com/office/drawing/2014/main" val="10000"/>
                  </a:ext>
                </a:extLst>
              </a:tr>
              <a:tr h="1091900">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How it learns</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One weighted sum of the features</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Many deep trees, each trained on a random sample of the data; their predictions are averaged</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Many small trees built one after another; each new tree fixes the errors still left</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844200">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Strengths</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Fast, tiny file, easy to explain (S$ per unit)</a:t>
                      </a:r>
                      <a:endParaRPr sz="24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Captures curves and interactions; needs little tuning</a:t>
                      </a:r>
                      <a:endParaRPr sz="24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Often the most accurate on tabular data; compact file</a:t>
                      </a:r>
                      <a:endParaRPr sz="24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675525">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Watch out for</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Assumes straight-line, additive effects</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Large file (stores every tree); slower to predict</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Slower to train; more settings to tune</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r h="844200">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Settings in model.py</a:t>
                      </a:r>
                      <a:endParaRPr sz="18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None to tune</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n_estimators=100, min_samples_leaf=2</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n_estimators=500, max_depth=5, learning_rate=0.1</a:t>
                      </a:r>
                      <a:endParaRPr sz="18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176" name="Google Shape;176;p22"/>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77" name="Google Shape;177;p22"/>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How do we measure error?</a:t>
            </a:r>
            <a:endParaRPr sz="1100" b="0" i="0" u="none" strike="noStrike" cap="none">
              <a:solidFill>
                <a:srgbClr val="000000"/>
              </a:solidFill>
              <a:latin typeface="Arial"/>
              <a:ea typeface="Arial"/>
              <a:cs typeface="Arial"/>
              <a:sym typeface="Arial"/>
            </a:endParaRPr>
          </a:p>
        </p:txBody>
      </p:sp>
      <p:graphicFrame>
        <p:nvGraphicFramePr>
          <p:cNvPr id="178" name="Google Shape;178;p22"/>
          <p:cNvGraphicFramePr/>
          <p:nvPr/>
        </p:nvGraphicFramePr>
        <p:xfrm>
          <a:off x="411480" y="868680"/>
          <a:ext cx="3000000" cy="3000000"/>
        </p:xfrm>
        <a:graphic>
          <a:graphicData uri="http://schemas.openxmlformats.org/drawingml/2006/table">
            <a:tbl>
              <a:tblPr>
                <a:noFill/>
                <a:tableStyleId>{894B10DC-2A97-4701-8D3A-C7F3630570D0}</a:tableStyleId>
              </a:tblPr>
              <a:tblGrid>
                <a:gridCol w="1188725">
                  <a:extLst>
                    <a:ext uri="{9D8B030D-6E8A-4147-A177-3AD203B41FA5}">
                      <a16:colId xmlns:a16="http://schemas.microsoft.com/office/drawing/2014/main" val="20000"/>
                    </a:ext>
                  </a:extLst>
                </a:gridCol>
                <a:gridCol w="5120650">
                  <a:extLst>
                    <a:ext uri="{9D8B030D-6E8A-4147-A177-3AD203B41FA5}">
                      <a16:colId xmlns:a16="http://schemas.microsoft.com/office/drawing/2014/main" val="20001"/>
                    </a:ext>
                  </a:extLst>
                </a:gridCol>
                <a:gridCol w="1920250">
                  <a:extLst>
                    <a:ext uri="{9D8B030D-6E8A-4147-A177-3AD203B41FA5}">
                      <a16:colId xmlns:a16="http://schemas.microsoft.com/office/drawing/2014/main" val="20002"/>
                    </a:ext>
                  </a:extLst>
                </a:gridCol>
              </a:tblGrid>
              <a:tr h="347475">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B2A4A"/>
                          </a:solidFill>
                          <a:latin typeface="Open Sans"/>
                          <a:ea typeface="Open Sans"/>
                          <a:cs typeface="Open Sans"/>
                          <a:sym typeface="Open Sans"/>
                        </a:rPr>
                        <a:t>Metric</a:t>
                      </a:r>
                      <a:endParaRPr sz="16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B2A4A"/>
                          </a:solidFill>
                          <a:latin typeface="Open Sans"/>
                          <a:ea typeface="Open Sans"/>
                          <a:cs typeface="Open Sans"/>
                          <a:sym typeface="Open Sans"/>
                        </a:rPr>
                        <a:t>What it tells you</a:t>
                      </a:r>
                      <a:endParaRPr sz="16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B2A4A"/>
                          </a:solidFill>
                          <a:latin typeface="Open Sans"/>
                          <a:ea typeface="Open Sans"/>
                          <a:cs typeface="Open Sans"/>
                          <a:sym typeface="Open Sans"/>
                        </a:rPr>
                        <a:t>Better when</a:t>
                      </a:r>
                      <a:endParaRPr sz="16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extLst>
                  <a:ext uri="{0D108BD9-81ED-4DB2-BD59-A6C34878D82A}">
                    <a16:rowId xmlns:a16="http://schemas.microsoft.com/office/drawing/2014/main" val="10000"/>
                  </a:ext>
                </a:extLst>
              </a:tr>
              <a:tr h="658375">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MAE</a:t>
                      </a:r>
                      <a:endParaRPr sz="16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Mean absolute error: the average size of a miss, in S$. Easy to explain: "off by about S$26k on average".</a:t>
                      </a:r>
                      <a:endParaRPr sz="16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Lower</a:t>
                      </a:r>
                      <a:endParaRPr sz="16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658375">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RMSE</a:t>
                      </a:r>
                      <a:endParaRPr sz="16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Root mean squared error: squares each error first, so big misses count more. We use it to choose the model.</a:t>
                      </a:r>
                      <a:endParaRPr sz="20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Lower</a:t>
                      </a:r>
                      <a:endParaRPr sz="20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658375">
                <a:tc>
                  <a:txBody>
                    <a:bodyPr/>
                    <a:lstStyle/>
                    <a:p>
                      <a:pPr marL="0" marR="0" lvl="0" indent="0" algn="l" rtl="0">
                        <a:lnSpc>
                          <a:spcPct val="110000"/>
                        </a:lnSpc>
                        <a:spcBef>
                          <a:spcPts val="0"/>
                        </a:spcBef>
                        <a:spcAft>
                          <a:spcPts val="0"/>
                        </a:spcAft>
                        <a:buClr>
                          <a:srgbClr val="000000"/>
                        </a:buClr>
                        <a:buSzPts val="1400"/>
                        <a:buFont typeface="Arial"/>
                        <a:buNone/>
                      </a:pPr>
                      <a:r>
                        <a:rPr lang="en-US" sz="1400" b="1" i="0" u="none" strike="noStrike" cap="none">
                          <a:solidFill>
                            <a:srgbClr val="1F1F1F"/>
                          </a:solidFill>
                          <a:latin typeface="Open Sans"/>
                          <a:ea typeface="Open Sans"/>
                          <a:cs typeface="Open Sans"/>
                          <a:sym typeface="Open Sans"/>
                        </a:rPr>
                        <a:t>R²</a:t>
                      </a:r>
                      <a:endParaRPr sz="16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Share of price variation the model explains. 1 = perfect, 0 = no better than guessing the average price.</a:t>
                      </a:r>
                      <a:endParaRPr sz="16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400"/>
                        <a:buFont typeface="Arial"/>
                        <a:buNone/>
                      </a:pPr>
                      <a:r>
                        <a:rPr lang="en-US" sz="1400" b="0" i="0" u="none" strike="noStrike" cap="none">
                          <a:solidFill>
                            <a:srgbClr val="1F1F1F"/>
                          </a:solidFill>
                          <a:latin typeface="Open Sans"/>
                          <a:ea typeface="Open Sans"/>
                          <a:cs typeface="Open Sans"/>
                          <a:sym typeface="Open Sans"/>
                        </a:rPr>
                        <a:t>Closer to 1</a:t>
                      </a:r>
                      <a:endParaRPr sz="16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79" name="Google Shape;179;p22"/>
          <p:cNvSpPr/>
          <p:nvPr/>
        </p:nvSpPr>
        <p:spPr>
          <a:xfrm>
            <a:off x="411480" y="3657600"/>
            <a:ext cx="8229600" cy="731520"/>
          </a:xfrm>
          <a:prstGeom prst="roundRect">
            <a:avLst>
              <a:gd name="adj" fmla="val 12000"/>
            </a:avLst>
          </a:prstGeom>
          <a:solidFill>
            <a:srgbClr val="E8EEF7"/>
          </a:solidFill>
          <a:ln>
            <a:noFill/>
          </a:ln>
        </p:spPr>
        <p:txBody>
          <a:bodyPr spcFirstLastPara="1" wrap="square" lIns="137150" tIns="137150" rIns="137150" bIns="137150" anchor="ctr" anchorCtr="0">
            <a:noAutofit/>
          </a:bodyPr>
          <a:lstStyle/>
          <a:p>
            <a:pPr marL="0" marR="0" lvl="0" indent="0" algn="ctr" rtl="0">
              <a:lnSpc>
                <a:spcPct val="115000"/>
              </a:lnSpc>
              <a:spcBef>
                <a:spcPts val="0"/>
              </a:spcBef>
              <a:spcAft>
                <a:spcPts val="0"/>
              </a:spcAft>
              <a:buNone/>
            </a:pPr>
            <a:r>
              <a:rPr lang="en-US" sz="1200" b="1" i="0" u="none" strike="noStrike" cap="none">
                <a:solidFill>
                  <a:srgbClr val="1B2A4A"/>
                </a:solidFill>
                <a:latin typeface="Open Sans"/>
                <a:ea typeface="Open Sans"/>
                <a:cs typeface="Open Sans"/>
                <a:sym typeface="Open Sans"/>
              </a:rPr>
              <a:t>Always compare against a baseline. </a:t>
            </a:r>
            <a:r>
              <a:rPr lang="en-US" sz="1200" b="0" i="0" u="none" strike="noStrike" cap="none">
                <a:solidFill>
                  <a:srgbClr val="1F1F1F"/>
                </a:solidFill>
                <a:latin typeface="Open Sans"/>
                <a:ea typeface="Open Sans"/>
                <a:cs typeface="Open Sans"/>
                <a:sym typeface="Open Sans"/>
              </a:rPr>
              <a:t>Predicting the average price for every flat gives R² = 0 and MAE ≈ S$119k. Any real model must beat that.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3"/>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185" name="Google Shape;185;p23"/>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86" name="Google Shape;186;p23"/>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A fair comparison: train/test split and cross-validation</a:t>
            </a:r>
            <a:endParaRPr sz="1100" b="0" i="0" u="none" strike="noStrike" cap="none">
              <a:solidFill>
                <a:srgbClr val="000000"/>
              </a:solidFill>
              <a:latin typeface="Arial"/>
              <a:ea typeface="Arial"/>
              <a:cs typeface="Arial"/>
              <a:sym typeface="Arial"/>
            </a:endParaRPr>
          </a:p>
        </p:txBody>
      </p:sp>
      <p:sp>
        <p:nvSpPr>
          <p:cNvPr id="187" name="Google Shape;187;p23"/>
          <p:cNvSpPr txBox="1"/>
          <p:nvPr/>
        </p:nvSpPr>
        <p:spPr>
          <a:xfrm>
            <a:off x="411480" y="685800"/>
            <a:ext cx="82296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188" name="Google Shape;188;p23"/>
          <p:cNvSpPr txBox="1"/>
          <p:nvPr/>
        </p:nvSpPr>
        <p:spPr>
          <a:xfrm>
            <a:off x="411480" y="1458265"/>
            <a:ext cx="4114800" cy="2431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1" i="0" u="none" strike="noStrike" cap="none">
                <a:solidFill>
                  <a:srgbClr val="2C5697"/>
                </a:solidFill>
                <a:latin typeface="Open Sans"/>
                <a:ea typeface="Open Sans"/>
                <a:cs typeface="Open Sans"/>
                <a:sym typeface="Open Sans"/>
              </a:rPr>
              <a:t>1. Lock away a test set</a:t>
            </a:r>
            <a:endParaRPr sz="1300" b="1" i="0" u="none" strike="noStrike" cap="none">
              <a:solidFill>
                <a:srgbClr val="2C5697"/>
              </a:solidFill>
              <a:latin typeface="Open Sans"/>
              <a:ea typeface="Open Sans"/>
              <a:cs typeface="Open Sans"/>
              <a:sym typeface="Open Sans"/>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80% of rows for training, 20% for testing (random_state=42). The test set stays untouched until the very end.</a:t>
            </a:r>
            <a:endParaRPr/>
          </a:p>
          <a:p>
            <a:pPr marL="0" marR="0" lvl="0" indent="0" algn="l" rtl="0">
              <a:lnSpc>
                <a:spcPct val="115000"/>
              </a:lnSpc>
              <a:spcBef>
                <a:spcPts val="800"/>
              </a:spcBef>
              <a:spcAft>
                <a:spcPts val="0"/>
              </a:spcAft>
              <a:buNone/>
            </a:pPr>
            <a:r>
              <a:rPr lang="en-US" sz="1300" b="1" i="0" u="none" strike="noStrike" cap="none">
                <a:solidFill>
                  <a:srgbClr val="2C5697"/>
                </a:solidFill>
                <a:latin typeface="Open Sans"/>
                <a:ea typeface="Open Sans"/>
                <a:cs typeface="Open Sans"/>
                <a:sym typeface="Open Sans"/>
              </a:rPr>
              <a:t>2. Cross-validate on the training set</a:t>
            </a:r>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Split the training data into 5 folds. Train on 4, score on the 5th, repeat 5 times and average the scores.</a:t>
            </a:r>
            <a:endParaRPr/>
          </a:p>
          <a:p>
            <a:pPr marL="0" marR="0" lvl="0" indent="0" algn="l" rtl="0">
              <a:lnSpc>
                <a:spcPct val="115000"/>
              </a:lnSpc>
              <a:spcBef>
                <a:spcPts val="800"/>
              </a:spcBef>
              <a:spcAft>
                <a:spcPts val="0"/>
              </a:spcAft>
              <a:buNone/>
            </a:pPr>
            <a:r>
              <a:rPr lang="en-US" sz="1300" b="1" i="0" u="none" strike="noStrike" cap="none">
                <a:solidFill>
                  <a:srgbClr val="2C5697"/>
                </a:solidFill>
                <a:latin typeface="Open Sans"/>
                <a:ea typeface="Open Sans"/>
                <a:cs typeface="Open Sans"/>
                <a:sym typeface="Open Sans"/>
              </a:rPr>
              <a:t>3. Choose, then test once</a:t>
            </a:r>
            <a:endParaRPr/>
          </a:p>
          <a:p>
            <a:pPr marL="0" marR="0" lvl="0" indent="0" algn="l" rtl="0">
              <a:lnSpc>
                <a:spcPct val="115000"/>
              </a:lnSpc>
              <a:spcBef>
                <a:spcPts val="200"/>
              </a:spcBef>
              <a:spcAft>
                <a:spcPts val="900"/>
              </a:spcAft>
              <a:buNone/>
            </a:pPr>
            <a:r>
              <a:rPr lang="en-US" sz="1200" b="0" i="0" u="none" strike="noStrike" cap="none">
                <a:solidFill>
                  <a:srgbClr val="1F1F1F"/>
                </a:solidFill>
                <a:latin typeface="Open Sans"/>
                <a:ea typeface="Open Sans"/>
                <a:cs typeface="Open Sans"/>
                <a:sym typeface="Open Sans"/>
              </a:rPr>
              <a:t>Pick the lowest cross-validated RMSE, then report its test score as the honest estimate.</a:t>
            </a:r>
            <a:endParaRPr/>
          </a:p>
        </p:txBody>
      </p:sp>
      <p:sp>
        <p:nvSpPr>
          <p:cNvPr id="189" name="Google Shape;189;p23"/>
          <p:cNvSpPr/>
          <p:nvPr/>
        </p:nvSpPr>
        <p:spPr>
          <a:xfrm>
            <a:off x="5310601" y="1503975"/>
            <a:ext cx="2986200" cy="325800"/>
          </a:xfrm>
          <a:prstGeom prst="rect">
            <a:avLst/>
          </a:prstGeom>
          <a:solidFill>
            <a:srgbClr val="C9D6E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90" b="1" i="0" u="none" strike="noStrike" cap="none">
                <a:solidFill>
                  <a:srgbClr val="1B2A4A"/>
                </a:solidFill>
                <a:latin typeface="Open Sans"/>
                <a:ea typeface="Open Sans"/>
                <a:cs typeface="Open Sans"/>
                <a:sym typeface="Open Sans"/>
              </a:rPr>
              <a:t>Training data (80%)</a:t>
            </a:r>
            <a:endParaRPr sz="1385"/>
          </a:p>
        </p:txBody>
      </p:sp>
      <p:sp>
        <p:nvSpPr>
          <p:cNvPr id="190" name="Google Shape;190;p23"/>
          <p:cNvSpPr/>
          <p:nvPr/>
        </p:nvSpPr>
        <p:spPr>
          <a:xfrm>
            <a:off x="8351139" y="1503985"/>
            <a:ext cx="814500" cy="325800"/>
          </a:xfrm>
          <a:prstGeom prst="rect">
            <a:avLst/>
          </a:prstGeom>
          <a:solidFill>
            <a:srgbClr val="C8102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90" b="1" i="0" u="none" strike="noStrike" cap="none">
                <a:solidFill>
                  <a:srgbClr val="FFFFFF"/>
                </a:solidFill>
                <a:latin typeface="Open Sans"/>
                <a:ea typeface="Open Sans"/>
                <a:cs typeface="Open Sans"/>
                <a:sym typeface="Open Sans"/>
              </a:rPr>
              <a:t>Test (20%)</a:t>
            </a:r>
            <a:endParaRPr sz="1385"/>
          </a:p>
        </p:txBody>
      </p:sp>
      <p:sp>
        <p:nvSpPr>
          <p:cNvPr id="191" name="Google Shape;191;p23"/>
          <p:cNvSpPr txBox="1"/>
          <p:nvPr/>
        </p:nvSpPr>
        <p:spPr>
          <a:xfrm>
            <a:off x="4800600" y="1942897"/>
            <a:ext cx="3931800" cy="153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 b="1" i="0" u="none" strike="noStrike" cap="none">
                <a:solidFill>
                  <a:srgbClr val="5F6368"/>
                </a:solidFill>
                <a:latin typeface="Open Sans"/>
                <a:ea typeface="Open Sans"/>
                <a:cs typeface="Open Sans"/>
                <a:sym typeface="Open Sans"/>
              </a:rPr>
              <a:t>5-fold cross-validation on the training data</a:t>
            </a:r>
            <a:endParaRPr/>
          </a:p>
        </p:txBody>
      </p:sp>
      <p:sp>
        <p:nvSpPr>
          <p:cNvPr id="192" name="Google Shape;192;p23"/>
          <p:cNvSpPr txBox="1"/>
          <p:nvPr/>
        </p:nvSpPr>
        <p:spPr>
          <a:xfrm>
            <a:off x="4800600" y="2253793"/>
            <a:ext cx="567000" cy="153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Fold 1</a:t>
            </a:r>
            <a:endParaRPr/>
          </a:p>
        </p:txBody>
      </p:sp>
      <p:sp>
        <p:nvSpPr>
          <p:cNvPr id="193" name="Google Shape;193;p23"/>
          <p:cNvSpPr/>
          <p:nvPr/>
        </p:nvSpPr>
        <p:spPr>
          <a:xfrm>
            <a:off x="5404104" y="2253793"/>
            <a:ext cx="548700" cy="255900"/>
          </a:xfrm>
          <a:prstGeom prst="rect">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4" name="Google Shape;194;p23"/>
          <p:cNvSpPr/>
          <p:nvPr/>
        </p:nvSpPr>
        <p:spPr>
          <a:xfrm>
            <a:off x="6007608" y="2253793"/>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5" name="Google Shape;195;p23"/>
          <p:cNvSpPr/>
          <p:nvPr/>
        </p:nvSpPr>
        <p:spPr>
          <a:xfrm>
            <a:off x="6611112" y="2253793"/>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6" name="Google Shape;196;p23"/>
          <p:cNvSpPr/>
          <p:nvPr/>
        </p:nvSpPr>
        <p:spPr>
          <a:xfrm>
            <a:off x="7214616" y="2253793"/>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7" name="Google Shape;197;p23"/>
          <p:cNvSpPr/>
          <p:nvPr/>
        </p:nvSpPr>
        <p:spPr>
          <a:xfrm>
            <a:off x="7818120" y="2253793"/>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8" name="Google Shape;198;p23"/>
          <p:cNvSpPr txBox="1"/>
          <p:nvPr/>
        </p:nvSpPr>
        <p:spPr>
          <a:xfrm>
            <a:off x="4800600" y="2582976"/>
            <a:ext cx="567000" cy="153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Fold 2</a:t>
            </a:r>
            <a:endParaRPr/>
          </a:p>
        </p:txBody>
      </p:sp>
      <p:sp>
        <p:nvSpPr>
          <p:cNvPr id="199" name="Google Shape;199;p23"/>
          <p:cNvSpPr/>
          <p:nvPr/>
        </p:nvSpPr>
        <p:spPr>
          <a:xfrm>
            <a:off x="5404104" y="2582976"/>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0" name="Google Shape;200;p23"/>
          <p:cNvSpPr/>
          <p:nvPr/>
        </p:nvSpPr>
        <p:spPr>
          <a:xfrm>
            <a:off x="6007608" y="2582976"/>
            <a:ext cx="548700" cy="255900"/>
          </a:xfrm>
          <a:prstGeom prst="rect">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1" name="Google Shape;201;p23"/>
          <p:cNvSpPr/>
          <p:nvPr/>
        </p:nvSpPr>
        <p:spPr>
          <a:xfrm>
            <a:off x="6611112" y="2582976"/>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2" name="Google Shape;202;p23"/>
          <p:cNvSpPr/>
          <p:nvPr/>
        </p:nvSpPr>
        <p:spPr>
          <a:xfrm>
            <a:off x="7214616" y="2582976"/>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3" name="Google Shape;203;p23"/>
          <p:cNvSpPr/>
          <p:nvPr/>
        </p:nvSpPr>
        <p:spPr>
          <a:xfrm>
            <a:off x="7818120" y="2582976"/>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4" name="Google Shape;204;p23"/>
          <p:cNvSpPr txBox="1"/>
          <p:nvPr/>
        </p:nvSpPr>
        <p:spPr>
          <a:xfrm>
            <a:off x="4800600" y="2912161"/>
            <a:ext cx="567000" cy="153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Fold 3</a:t>
            </a:r>
            <a:endParaRPr/>
          </a:p>
        </p:txBody>
      </p:sp>
      <p:sp>
        <p:nvSpPr>
          <p:cNvPr id="205" name="Google Shape;205;p23"/>
          <p:cNvSpPr/>
          <p:nvPr/>
        </p:nvSpPr>
        <p:spPr>
          <a:xfrm>
            <a:off x="5404104" y="2912161"/>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6" name="Google Shape;206;p23"/>
          <p:cNvSpPr/>
          <p:nvPr/>
        </p:nvSpPr>
        <p:spPr>
          <a:xfrm>
            <a:off x="6007608" y="2912161"/>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7" name="Google Shape;207;p23"/>
          <p:cNvSpPr/>
          <p:nvPr/>
        </p:nvSpPr>
        <p:spPr>
          <a:xfrm>
            <a:off x="6611112" y="2912161"/>
            <a:ext cx="548700" cy="255900"/>
          </a:xfrm>
          <a:prstGeom prst="rect">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8" name="Google Shape;208;p23"/>
          <p:cNvSpPr/>
          <p:nvPr/>
        </p:nvSpPr>
        <p:spPr>
          <a:xfrm>
            <a:off x="7214616" y="2912161"/>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9" name="Google Shape;209;p23"/>
          <p:cNvSpPr/>
          <p:nvPr/>
        </p:nvSpPr>
        <p:spPr>
          <a:xfrm>
            <a:off x="7818120" y="2912161"/>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0" name="Google Shape;210;p23"/>
          <p:cNvSpPr txBox="1"/>
          <p:nvPr/>
        </p:nvSpPr>
        <p:spPr>
          <a:xfrm>
            <a:off x="4800600" y="3241345"/>
            <a:ext cx="567000" cy="153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Fold 4</a:t>
            </a:r>
            <a:endParaRPr/>
          </a:p>
        </p:txBody>
      </p:sp>
      <p:sp>
        <p:nvSpPr>
          <p:cNvPr id="211" name="Google Shape;211;p23"/>
          <p:cNvSpPr/>
          <p:nvPr/>
        </p:nvSpPr>
        <p:spPr>
          <a:xfrm>
            <a:off x="5404104" y="3241345"/>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2" name="Google Shape;212;p23"/>
          <p:cNvSpPr/>
          <p:nvPr/>
        </p:nvSpPr>
        <p:spPr>
          <a:xfrm>
            <a:off x="6007608" y="3241345"/>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3" name="Google Shape;213;p23"/>
          <p:cNvSpPr/>
          <p:nvPr/>
        </p:nvSpPr>
        <p:spPr>
          <a:xfrm>
            <a:off x="6611112" y="3241345"/>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4" name="Google Shape;214;p23"/>
          <p:cNvSpPr/>
          <p:nvPr/>
        </p:nvSpPr>
        <p:spPr>
          <a:xfrm>
            <a:off x="7214616" y="3241345"/>
            <a:ext cx="548700" cy="255900"/>
          </a:xfrm>
          <a:prstGeom prst="rect">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5" name="Google Shape;215;p23"/>
          <p:cNvSpPr/>
          <p:nvPr/>
        </p:nvSpPr>
        <p:spPr>
          <a:xfrm>
            <a:off x="7818120" y="3241345"/>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6" name="Google Shape;216;p23"/>
          <p:cNvSpPr txBox="1"/>
          <p:nvPr/>
        </p:nvSpPr>
        <p:spPr>
          <a:xfrm>
            <a:off x="4800600" y="3570529"/>
            <a:ext cx="567000" cy="153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Fold 5</a:t>
            </a:r>
            <a:endParaRPr/>
          </a:p>
        </p:txBody>
      </p:sp>
      <p:sp>
        <p:nvSpPr>
          <p:cNvPr id="217" name="Google Shape;217;p23"/>
          <p:cNvSpPr/>
          <p:nvPr/>
        </p:nvSpPr>
        <p:spPr>
          <a:xfrm>
            <a:off x="5404104" y="3570529"/>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8" name="Google Shape;218;p23"/>
          <p:cNvSpPr/>
          <p:nvPr/>
        </p:nvSpPr>
        <p:spPr>
          <a:xfrm>
            <a:off x="6007608" y="3570529"/>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9" name="Google Shape;219;p23"/>
          <p:cNvSpPr/>
          <p:nvPr/>
        </p:nvSpPr>
        <p:spPr>
          <a:xfrm>
            <a:off x="6611112" y="3570529"/>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0" name="Google Shape;220;p23"/>
          <p:cNvSpPr/>
          <p:nvPr/>
        </p:nvSpPr>
        <p:spPr>
          <a:xfrm>
            <a:off x="7214616" y="3570529"/>
            <a:ext cx="548700" cy="2559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1" name="Google Shape;221;p23"/>
          <p:cNvSpPr/>
          <p:nvPr/>
        </p:nvSpPr>
        <p:spPr>
          <a:xfrm>
            <a:off x="7818120" y="3570529"/>
            <a:ext cx="548700" cy="255900"/>
          </a:xfrm>
          <a:prstGeom prst="rect">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2" name="Google Shape;222;p23"/>
          <p:cNvSpPr/>
          <p:nvPr/>
        </p:nvSpPr>
        <p:spPr>
          <a:xfrm>
            <a:off x="5404104" y="4000297"/>
            <a:ext cx="164700" cy="164700"/>
          </a:xfrm>
          <a:prstGeom prst="rect">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3" name="Google Shape;223;p23"/>
          <p:cNvSpPr txBox="1"/>
          <p:nvPr/>
        </p:nvSpPr>
        <p:spPr>
          <a:xfrm>
            <a:off x="5632704" y="3972864"/>
            <a:ext cx="914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Train</a:t>
            </a:r>
            <a:endParaRPr/>
          </a:p>
        </p:txBody>
      </p:sp>
      <p:sp>
        <p:nvSpPr>
          <p:cNvPr id="224" name="Google Shape;224;p23"/>
          <p:cNvSpPr/>
          <p:nvPr/>
        </p:nvSpPr>
        <p:spPr>
          <a:xfrm>
            <a:off x="6592824" y="4000297"/>
            <a:ext cx="164700" cy="164700"/>
          </a:xfrm>
          <a:prstGeom prst="rect">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5" name="Google Shape;225;p23"/>
          <p:cNvSpPr txBox="1"/>
          <p:nvPr/>
        </p:nvSpPr>
        <p:spPr>
          <a:xfrm>
            <a:off x="6821424" y="3972864"/>
            <a:ext cx="9144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Validate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a:spLocks noGrp="1"/>
          </p:cNvSpPr>
          <p:nvPr>
            <p:ph type="title" idx="4294967295"/>
          </p:nvPr>
        </p:nvSpPr>
        <p:spPr>
          <a:xfrm>
            <a:off x="376550" y="147875"/>
            <a:ext cx="8310000" cy="759900"/>
          </a:xfrm>
          <a:prstGeom prst="rect">
            <a:avLst/>
          </a:prstGeom>
          <a:noFill/>
          <a:ln>
            <a:noFill/>
          </a:ln>
        </p:spPr>
        <p:txBody>
          <a:bodyPr spcFirstLastPara="1" wrap="square" lIns="68575" tIns="34275" rIns="68575" bIns="34275" anchor="ctr" anchorCtr="0">
            <a:normAutofit/>
          </a:bodyPr>
          <a:lstStyle/>
          <a:p>
            <a:pPr marL="0" lvl="0" indent="0" algn="l" rtl="0">
              <a:lnSpc>
                <a:spcPct val="115000"/>
              </a:lnSpc>
              <a:spcBef>
                <a:spcPts val="0"/>
              </a:spcBef>
              <a:spcAft>
                <a:spcPts val="0"/>
              </a:spcAft>
              <a:buSzPts val="3000"/>
              <a:buNone/>
            </a:pPr>
            <a:r>
              <a:rPr lang="en-US" sz="2800" b="1" i="0">
                <a:solidFill>
                  <a:srgbClr val="1F1F1F"/>
                </a:solidFill>
                <a:latin typeface="Open Sans"/>
                <a:ea typeface="Open Sans"/>
                <a:cs typeface="Open Sans"/>
                <a:sym typeface="Open Sans"/>
              </a:rPr>
              <a:t>Dataset: HDB resale prices</a:t>
            </a:r>
            <a:endParaRPr b="1">
              <a:latin typeface="Open Sans"/>
              <a:ea typeface="Open Sans"/>
              <a:cs typeface="Open Sans"/>
              <a:sym typeface="Open Sans"/>
            </a:endParaRPr>
          </a:p>
        </p:txBody>
      </p:sp>
      <p:sp>
        <p:nvSpPr>
          <p:cNvPr id="231" name="Google Shape;231;p24"/>
          <p:cNvSpPr txBox="1"/>
          <p:nvPr/>
        </p:nvSpPr>
        <p:spPr>
          <a:xfrm>
            <a:off x="457200" y="2286000"/>
            <a:ext cx="82296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1B2A4A"/>
                </a:solidFill>
                <a:latin typeface="Open Sans"/>
                <a:ea typeface="Open Sans"/>
                <a:cs typeface="Open Sans"/>
                <a:sym typeface="Open Sans"/>
              </a:rPr>
              <a:t>File:  </a:t>
            </a:r>
            <a:r>
              <a:rPr lang="en-US" sz="1200" b="0" i="0" u="none" strike="noStrike" cap="none">
                <a:solidFill>
                  <a:srgbClr val="1F1F1F"/>
                </a:solidFill>
                <a:latin typeface="Consolas"/>
                <a:ea typeface="Consolas"/>
                <a:cs typeface="Consolas"/>
                <a:sym typeface="Consolas"/>
              </a:rPr>
              <a:t>data/hdb_resale_2017_2019.csv</a:t>
            </a:r>
            <a:r>
              <a:rPr lang="en-US" sz="1200" b="0" i="0" u="none" strike="noStrike" cap="none">
                <a:solidFill>
                  <a:srgbClr val="1F1F1F"/>
                </a:solidFill>
                <a:latin typeface="Open Sans"/>
                <a:ea typeface="Open Sans"/>
                <a:cs typeface="Open Sans"/>
                <a:sym typeface="Open Sans"/>
              </a:rPr>
              <a:t>, a copy of </a:t>
            </a:r>
            <a:r>
              <a:rPr lang="en-US" sz="1200" b="0" i="0" u="sng" strike="noStrike" cap="none">
                <a:solidFill>
                  <a:srgbClr val="2C5697"/>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data.gov.sg</a:t>
            </a:r>
            <a:r>
              <a:rPr lang="en-US" sz="1200" b="0" i="0" u="none" strike="noStrike" cap="none">
                <a:solidFill>
                  <a:srgbClr val="1F1F1F"/>
                </a:solidFill>
                <a:latin typeface="Open Sans"/>
                <a:ea typeface="Open Sans"/>
                <a:cs typeface="Open Sans"/>
                <a:sym typeface="Open Sans"/>
              </a:rPr>
              <a:t> resale data kept in the repo, so the lesson works offline.</a:t>
            </a:r>
            <a:endParaRPr sz="1400" b="1" i="0" u="none" strike="noStrike" cap="none">
              <a:solidFill>
                <a:srgbClr val="000000"/>
              </a:solidFill>
              <a:latin typeface="Arial"/>
              <a:ea typeface="Arial"/>
              <a:cs typeface="Arial"/>
              <a:sym typeface="Arial"/>
            </a:endParaRPr>
          </a:p>
          <a:p>
            <a:pPr marL="0" marR="0" lvl="0" indent="0" algn="l" rtl="0">
              <a:lnSpc>
                <a:spcPct val="115000"/>
              </a:lnSpc>
              <a:spcBef>
                <a:spcPts val="800"/>
              </a:spcBef>
              <a:spcAft>
                <a:spcPts val="0"/>
              </a:spcAft>
              <a:buNone/>
            </a:pPr>
            <a:r>
              <a:rPr lang="en-US" sz="1200" b="1" i="0" u="none" strike="noStrike" cap="none">
                <a:solidFill>
                  <a:srgbClr val="1B2A4A"/>
                </a:solidFill>
                <a:latin typeface="Open Sans"/>
                <a:ea typeface="Open Sans"/>
                <a:cs typeface="Open Sans"/>
                <a:sym typeface="Open Sans"/>
              </a:rPr>
              <a:t>Features:  </a:t>
            </a:r>
            <a:r>
              <a:rPr lang="en-US" sz="1200" b="0" i="0" u="none" strike="noStrike" cap="none">
                <a:solidFill>
                  <a:srgbClr val="1F1F1F"/>
                </a:solidFill>
                <a:latin typeface="Consolas"/>
                <a:ea typeface="Consolas"/>
                <a:cs typeface="Consolas"/>
                <a:sym typeface="Consolas"/>
              </a:rPr>
              <a:t>town · flat_type · floor_area_sqm · storey (from storey_range) · lease_commence_date</a:t>
            </a:r>
            <a:endParaRPr/>
          </a:p>
          <a:p>
            <a:pPr marL="0" marR="0" lvl="0" indent="0" algn="l" rtl="0">
              <a:lnSpc>
                <a:spcPct val="115000"/>
              </a:lnSpc>
              <a:spcBef>
                <a:spcPts val="800"/>
              </a:spcBef>
              <a:spcAft>
                <a:spcPts val="0"/>
              </a:spcAft>
              <a:buNone/>
            </a:pPr>
            <a:r>
              <a:rPr lang="en-US" sz="1200" b="1" i="0" u="none" strike="noStrike" cap="none">
                <a:solidFill>
                  <a:srgbClr val="1B2A4A"/>
                </a:solidFill>
                <a:latin typeface="Open Sans"/>
                <a:ea typeface="Open Sans"/>
                <a:cs typeface="Open Sans"/>
                <a:sym typeface="Open Sans"/>
              </a:rPr>
              <a:t>Target:  </a:t>
            </a:r>
            <a:r>
              <a:rPr lang="en-US" sz="1200" b="0" i="0" u="none" strike="noStrike" cap="none">
                <a:solidFill>
                  <a:srgbClr val="1F1F1F"/>
                </a:solidFill>
                <a:latin typeface="Consolas"/>
                <a:ea typeface="Consolas"/>
                <a:cs typeface="Consolas"/>
                <a:sym typeface="Consolas"/>
              </a:rPr>
              <a:t>resale_price</a:t>
            </a:r>
            <a:r>
              <a:rPr lang="en-US" sz="1200" b="0" i="0" u="none" strike="noStrike" cap="none">
                <a:solidFill>
                  <a:srgbClr val="1F1F1F"/>
                </a:solidFill>
                <a:latin typeface="Open Sans"/>
                <a:ea typeface="Open Sans"/>
                <a:cs typeface="Open Sans"/>
                <a:sym typeface="Open Sans"/>
              </a:rPr>
              <a:t> (S$)</a:t>
            </a:r>
            <a:endParaRPr/>
          </a:p>
          <a:p>
            <a:pPr marL="0" marR="0" lvl="0" indent="0" algn="l" rtl="0">
              <a:lnSpc>
                <a:spcPct val="115000"/>
              </a:lnSpc>
              <a:spcBef>
                <a:spcPts val="800"/>
              </a:spcBef>
              <a:spcAft>
                <a:spcPts val="0"/>
              </a:spcAft>
              <a:buNone/>
            </a:pPr>
            <a:r>
              <a:rPr lang="en-US" sz="1200" b="1" i="0" u="none" strike="noStrike" cap="none">
                <a:solidFill>
                  <a:srgbClr val="1B2A4A"/>
                </a:solidFill>
                <a:latin typeface="Open Sans"/>
                <a:ea typeface="Open Sans"/>
                <a:cs typeface="Open Sans"/>
                <a:sym typeface="Open Sans"/>
              </a:rPr>
              <a:t>Not used:  </a:t>
            </a:r>
            <a:r>
              <a:rPr lang="en-US" sz="1200" b="0" i="0" u="none" strike="noStrike" cap="none">
                <a:solidFill>
                  <a:srgbClr val="1F1F1F"/>
                </a:solidFill>
                <a:latin typeface="Open Sans"/>
                <a:ea typeface="Open Sans"/>
                <a:cs typeface="Open Sans"/>
                <a:sym typeface="Open Sans"/>
              </a:rPr>
              <a:t>month (prices were fairly flat over this period), block and street_name (too many values), remaining_lease (repeats lease_commence_date).</a:t>
            </a:r>
            <a:endParaRPr/>
          </a:p>
          <a:p>
            <a:pPr marL="0" marR="0" lvl="0" indent="0" algn="l" rtl="0">
              <a:lnSpc>
                <a:spcPct val="115000"/>
              </a:lnSpc>
              <a:spcBef>
                <a:spcPts val="1200"/>
              </a:spcBef>
              <a:spcAft>
                <a:spcPts val="0"/>
              </a:spcAft>
              <a:buNone/>
            </a:pPr>
            <a:r>
              <a:rPr lang="en-US" sz="1200" b="0" i="1" u="none" strike="noStrike" cap="none">
                <a:solidFill>
                  <a:srgbClr val="C8102E"/>
                </a:solidFill>
                <a:latin typeface="Open Sans"/>
                <a:ea typeface="Open Sans"/>
                <a:cs typeface="Open Sans"/>
                <a:sym typeface="Open Sans"/>
              </a:rPr>
              <a:t>Prices reflect the 2017 to 2019 market, not today's prices.</a:t>
            </a:r>
            <a:endParaRPr/>
          </a:p>
        </p:txBody>
      </p:sp>
      <p:sp>
        <p:nvSpPr>
          <p:cNvPr id="232" name="Google Shape;232;p24"/>
          <p:cNvSpPr/>
          <p:nvPr/>
        </p:nvSpPr>
        <p:spPr>
          <a:xfrm>
            <a:off x="457200" y="1005840"/>
            <a:ext cx="2606040" cy="1051560"/>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3000" b="1" i="0" u="none" strike="noStrike" cap="none">
                <a:solidFill>
                  <a:srgbClr val="1B2A4A"/>
                </a:solidFill>
                <a:latin typeface="Open Sans"/>
                <a:ea typeface="Open Sans"/>
                <a:cs typeface="Open Sans"/>
                <a:sym typeface="Open Sans"/>
              </a:rPr>
              <a:t>50,432</a:t>
            </a:r>
            <a:endParaRPr/>
          </a:p>
          <a:p>
            <a:pPr marL="0" marR="0" lvl="0" indent="0" algn="ctr" rtl="0">
              <a:lnSpc>
                <a:spcPct val="100000"/>
              </a:lnSpc>
              <a:spcBef>
                <a:spcPts val="200"/>
              </a:spcBef>
              <a:spcAft>
                <a:spcPts val="0"/>
              </a:spcAft>
              <a:buNone/>
            </a:pPr>
            <a:r>
              <a:rPr lang="en-US" sz="1100" b="0" i="0" u="none" strike="noStrike" cap="none">
                <a:solidFill>
                  <a:srgbClr val="5F6368"/>
                </a:solidFill>
                <a:latin typeface="Open Sans"/>
                <a:ea typeface="Open Sans"/>
                <a:cs typeface="Open Sans"/>
                <a:sym typeface="Open Sans"/>
              </a:rPr>
              <a:t>resale transactions</a:t>
            </a:r>
            <a:endParaRPr/>
          </a:p>
        </p:txBody>
      </p:sp>
      <p:sp>
        <p:nvSpPr>
          <p:cNvPr id="233" name="Google Shape;233;p24"/>
          <p:cNvSpPr/>
          <p:nvPr/>
        </p:nvSpPr>
        <p:spPr>
          <a:xfrm>
            <a:off x="3268980" y="1005840"/>
            <a:ext cx="2606040" cy="1051560"/>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2600" b="1" i="0" u="none" strike="noStrike" cap="none">
                <a:solidFill>
                  <a:srgbClr val="1B2A4A"/>
                </a:solidFill>
                <a:latin typeface="Open Sans"/>
                <a:ea typeface="Open Sans"/>
                <a:cs typeface="Open Sans"/>
                <a:sym typeface="Open Sans"/>
              </a:rPr>
              <a:t>2017 – 2019</a:t>
            </a:r>
            <a:endParaRPr/>
          </a:p>
          <a:p>
            <a:pPr marL="0" marR="0" lvl="0" indent="0" algn="ctr" rtl="0">
              <a:lnSpc>
                <a:spcPct val="100000"/>
              </a:lnSpc>
              <a:spcBef>
                <a:spcPts val="200"/>
              </a:spcBef>
              <a:spcAft>
                <a:spcPts val="0"/>
              </a:spcAft>
              <a:buNone/>
            </a:pPr>
            <a:r>
              <a:rPr lang="en-US" sz="1100" b="0" i="0" u="none" strike="noStrike" cap="none">
                <a:solidFill>
                  <a:srgbClr val="5F6368"/>
                </a:solidFill>
                <a:latin typeface="Open Sans"/>
                <a:ea typeface="Open Sans"/>
                <a:cs typeface="Open Sans"/>
                <a:sym typeface="Open Sans"/>
              </a:rPr>
              <a:t>Jan 2017 to May 2019</a:t>
            </a:r>
            <a:endParaRPr/>
          </a:p>
        </p:txBody>
      </p:sp>
      <p:sp>
        <p:nvSpPr>
          <p:cNvPr id="234" name="Google Shape;234;p24"/>
          <p:cNvSpPr/>
          <p:nvPr/>
        </p:nvSpPr>
        <p:spPr>
          <a:xfrm>
            <a:off x="6080760" y="1005840"/>
            <a:ext cx="2606040" cy="1051560"/>
          </a:xfrm>
          <a:prstGeom prst="roundRect">
            <a:avLst>
              <a:gd name="adj" fmla="val 12000"/>
            </a:avLst>
          </a:prstGeom>
          <a:solidFill>
            <a:srgbClr val="E8EEF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2600" b="1" i="0" u="none" strike="noStrike" cap="none">
                <a:solidFill>
                  <a:srgbClr val="1B2A4A"/>
                </a:solidFill>
                <a:latin typeface="Open Sans"/>
                <a:ea typeface="Open Sans"/>
                <a:cs typeface="Open Sans"/>
                <a:sym typeface="Open Sans"/>
              </a:rPr>
              <a:t>26 towns</a:t>
            </a:r>
            <a:endParaRPr/>
          </a:p>
          <a:p>
            <a:pPr marL="0" marR="0" lvl="0" indent="0" algn="ctr" rtl="0">
              <a:lnSpc>
                <a:spcPct val="100000"/>
              </a:lnSpc>
              <a:spcBef>
                <a:spcPts val="200"/>
              </a:spcBef>
              <a:spcAft>
                <a:spcPts val="0"/>
              </a:spcAft>
              <a:buNone/>
            </a:pPr>
            <a:r>
              <a:rPr lang="en-US" sz="1100" b="0" i="0" u="none" strike="noStrike" cap="none">
                <a:solidFill>
                  <a:srgbClr val="5F6368"/>
                </a:solidFill>
                <a:latin typeface="Open Sans"/>
                <a:ea typeface="Open Sans"/>
                <a:cs typeface="Open Sans"/>
                <a:sym typeface="Open Sans"/>
              </a:rPr>
              <a:t>and 7 flat types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240" name="Google Shape;240;p25"/>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241" name="Google Shape;241;p25"/>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Preparing features: from raw columns to model inputs</a:t>
            </a:r>
            <a:endParaRPr sz="1100" b="0" i="0" u="none" strike="noStrike" cap="none">
              <a:solidFill>
                <a:srgbClr val="000000"/>
              </a:solidFill>
              <a:latin typeface="Arial"/>
              <a:ea typeface="Arial"/>
              <a:cs typeface="Arial"/>
              <a:sym typeface="Arial"/>
            </a:endParaRPr>
          </a:p>
        </p:txBody>
      </p:sp>
      <p:sp>
        <p:nvSpPr>
          <p:cNvPr id="242" name="Google Shape;242;p25"/>
          <p:cNvSpPr txBox="1"/>
          <p:nvPr/>
        </p:nvSpPr>
        <p:spPr>
          <a:xfrm>
            <a:off x="411480" y="685800"/>
            <a:ext cx="82296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43" name="Google Shape;243;p25"/>
          <p:cNvSpPr txBox="1"/>
          <p:nvPr/>
        </p:nvSpPr>
        <p:spPr>
          <a:xfrm>
            <a:off x="411480" y="1965960"/>
            <a:ext cx="4114800" cy="2756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1" i="0" u="none" strike="noStrike" cap="none">
                <a:solidFill>
                  <a:srgbClr val="2C5697"/>
                </a:solidFill>
                <a:latin typeface="Open Sans"/>
                <a:ea typeface="Open Sans"/>
                <a:cs typeface="Open Sans"/>
                <a:sym typeface="Open Sans"/>
              </a:rPr>
              <a:t>storey_range becomes storey</a:t>
            </a:r>
            <a:endParaRPr sz="1300" b="1" i="0" u="none" strike="noStrike" cap="none">
              <a:solidFill>
                <a:srgbClr val="2C5697"/>
              </a:solidFill>
              <a:latin typeface="Open Sans"/>
              <a:ea typeface="Open Sans"/>
              <a:cs typeface="Open Sans"/>
              <a:sym typeface="Open Sans"/>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"10 TO 12" becomes 11.0, the midpoint of the band.</a:t>
            </a:r>
            <a:endParaRPr/>
          </a:p>
          <a:p>
            <a:pPr marL="0" marR="0" lvl="0" indent="0" algn="l" rtl="0">
              <a:lnSpc>
                <a:spcPct val="115000"/>
              </a:lnSpc>
              <a:spcBef>
                <a:spcPts val="800"/>
              </a:spcBef>
              <a:spcAft>
                <a:spcPts val="0"/>
              </a:spcAft>
              <a:buNone/>
            </a:pPr>
            <a:r>
              <a:rPr lang="en-US" sz="1300" b="1" i="0" u="none" strike="noStrike" cap="none">
                <a:solidFill>
                  <a:srgbClr val="2C5697"/>
                </a:solidFill>
                <a:latin typeface="Open Sans"/>
                <a:ea typeface="Open Sans"/>
                <a:cs typeface="Open Sans"/>
                <a:sym typeface="Open Sans"/>
              </a:rPr>
              <a:t>One-hot encoding</a:t>
            </a:r>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Each town or flat type becomes its own 0/1 column. </a:t>
            </a:r>
            <a:endParaRPr sz="1200" b="0" i="0" u="none" strike="noStrike" cap="none">
              <a:solidFill>
                <a:srgbClr val="1F1F1F"/>
              </a:solidFill>
              <a:latin typeface="Open Sans"/>
              <a:ea typeface="Open Sans"/>
              <a:cs typeface="Open Sans"/>
              <a:sym typeface="Open Sans"/>
            </a:endParaRPr>
          </a:p>
          <a:p>
            <a:pPr marL="0" marR="0" lvl="0" indent="0" algn="l" rtl="0">
              <a:lnSpc>
                <a:spcPct val="115000"/>
              </a:lnSpc>
              <a:spcBef>
                <a:spcPts val="200"/>
              </a:spcBef>
              <a:spcAft>
                <a:spcPts val="0"/>
              </a:spcAft>
              <a:buNone/>
            </a:pPr>
            <a:endParaRPr sz="1300" b="1">
              <a:solidFill>
                <a:srgbClr val="2C5697"/>
              </a:solidFill>
              <a:latin typeface="Open Sans"/>
              <a:ea typeface="Open Sans"/>
              <a:cs typeface="Open Sans"/>
              <a:sym typeface="Open Sans"/>
            </a:endParaRPr>
          </a:p>
          <a:p>
            <a:pPr marL="0" marR="0" lvl="0" indent="0" algn="l" rtl="0">
              <a:lnSpc>
                <a:spcPct val="115000"/>
              </a:lnSpc>
              <a:spcBef>
                <a:spcPts val="200"/>
              </a:spcBef>
              <a:spcAft>
                <a:spcPts val="0"/>
              </a:spcAft>
              <a:buNone/>
            </a:pPr>
            <a:r>
              <a:rPr lang="en-US" sz="1300" b="1" i="0" u="none" strike="noStrike" cap="none">
                <a:solidFill>
                  <a:srgbClr val="2C5697"/>
                </a:solidFill>
                <a:latin typeface="Open Sans"/>
                <a:ea typeface="Open Sans"/>
                <a:cs typeface="Open Sans"/>
                <a:sym typeface="Open Sans"/>
              </a:rPr>
              <a:t>Pipeline = encoder + model</a:t>
            </a:r>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Fitted on training data only (no leakage) and saved as one file.</a:t>
            </a:r>
            <a:endParaRPr/>
          </a:p>
          <a:p>
            <a:pPr marL="0" marR="0" lvl="0" indent="0" algn="l" rtl="0">
              <a:lnSpc>
                <a:spcPct val="115000"/>
              </a:lnSpc>
              <a:spcBef>
                <a:spcPts val="800"/>
              </a:spcBef>
              <a:spcAft>
                <a:spcPts val="0"/>
              </a:spcAft>
              <a:buNone/>
            </a:pPr>
            <a:r>
              <a:rPr lang="en-US" sz="1300" b="1" i="0" u="none" strike="noStrike" cap="none">
                <a:solidFill>
                  <a:srgbClr val="2C5697"/>
                </a:solidFill>
                <a:latin typeface="Open Sans"/>
                <a:ea typeface="Open Sans"/>
                <a:cs typeface="Open Sans"/>
                <a:sym typeface="Open Sans"/>
              </a:rPr>
              <a:t>hdb_features.py is shared</a:t>
            </a:r>
            <a:endParaRPr/>
          </a:p>
          <a:p>
            <a:pPr marL="0" marR="0" lvl="0" indent="0" algn="l" rtl="0">
              <a:lnSpc>
                <a:spcPct val="115000"/>
              </a:lnSpc>
              <a:spcBef>
                <a:spcPts val="200"/>
              </a:spcBef>
              <a:spcAft>
                <a:spcPts val="900"/>
              </a:spcAft>
              <a:buNone/>
            </a:pPr>
            <a:r>
              <a:rPr lang="en-US" sz="1200" b="0" i="0" u="none" strike="noStrike" cap="none">
                <a:solidFill>
                  <a:srgbClr val="1F1F1F"/>
                </a:solidFill>
                <a:latin typeface="Open Sans"/>
                <a:ea typeface="Open Sans"/>
                <a:cs typeface="Open Sans"/>
                <a:sym typeface="Open Sans"/>
              </a:rPr>
              <a:t>model.py and app.py import the same code, so features are built identically in training and in the app.</a:t>
            </a:r>
            <a:endParaRPr/>
          </a:p>
        </p:txBody>
      </p:sp>
      <p:sp>
        <p:nvSpPr>
          <p:cNvPr id="244" name="Google Shape;244;p25"/>
          <p:cNvSpPr txBox="1"/>
          <p:nvPr/>
        </p:nvSpPr>
        <p:spPr>
          <a:xfrm>
            <a:off x="411475" y="1047375"/>
            <a:ext cx="6953100" cy="793800"/>
          </a:xfrm>
          <a:prstGeom prst="rect">
            <a:avLst/>
          </a:prstGeom>
          <a:solidFill>
            <a:srgbClr val="1B2A4A"/>
          </a:solidFill>
          <a:ln w="9525" cap="flat" cmpd="sng">
            <a:solidFill>
              <a:srgbClr val="4F81BD"/>
            </a:solidFill>
            <a:prstDash val="solid"/>
            <a:round/>
            <a:headEnd type="none" w="sm" len="sm"/>
            <a:tailEnd type="none" w="sm" len="sm"/>
          </a:ln>
        </p:spPr>
        <p:txBody>
          <a:bodyPr spcFirstLastPara="1" wrap="square" lIns="180000" tIns="180000" rIns="180000" bIns="18000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0" i="1" u="none" strike="noStrike" cap="none">
                <a:solidFill>
                  <a:srgbClr val="FFFFFF"/>
                </a:solidFill>
                <a:latin typeface="Open Sans"/>
                <a:ea typeface="Open Sans"/>
                <a:cs typeface="Open Sans"/>
                <a:sym typeface="Open Sans"/>
              </a:rPr>
              <a:t>Models need numbers. We convert text to numbers inside a scikit-learn Pipeline, so the app can pass in raw values such as "BISHAN".</a:t>
            </a:r>
            <a:endParaRPr sz="1300" b="0" i="1" u="none" strike="noStrike" cap="none">
              <a:solidFill>
                <a:schemeClr val="lt1"/>
              </a:solidFill>
              <a:latin typeface="Open Sans"/>
              <a:ea typeface="Open Sans"/>
              <a:cs typeface="Open Sans"/>
              <a:sym typeface="Open Sans"/>
            </a:endParaRPr>
          </a:p>
        </p:txBody>
      </p:sp>
      <p:sp>
        <p:nvSpPr>
          <p:cNvPr id="245" name="Google Shape;245;p25"/>
          <p:cNvSpPr txBox="1"/>
          <p:nvPr/>
        </p:nvSpPr>
        <p:spPr>
          <a:xfrm>
            <a:off x="4846320" y="2011680"/>
            <a:ext cx="3840480" cy="27432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100" b="1" i="0" u="none" strike="noStrike" cap="none">
                <a:solidFill>
                  <a:srgbClr val="5F6368"/>
                </a:solidFill>
                <a:latin typeface="Open Sans"/>
                <a:ea typeface="Open Sans"/>
                <a:cs typeface="Open Sans"/>
                <a:sym typeface="Open Sans"/>
              </a:rPr>
              <a:t>One-hot encoding of town</a:t>
            </a:r>
            <a:endParaRPr/>
          </a:p>
        </p:txBody>
      </p:sp>
      <p:graphicFrame>
        <p:nvGraphicFramePr>
          <p:cNvPr id="246" name="Google Shape;246;p25"/>
          <p:cNvGraphicFramePr/>
          <p:nvPr/>
        </p:nvGraphicFramePr>
        <p:xfrm>
          <a:off x="4846320" y="2286000"/>
          <a:ext cx="3000000" cy="3000000"/>
        </p:xfrm>
        <a:graphic>
          <a:graphicData uri="http://schemas.openxmlformats.org/drawingml/2006/table">
            <a:tbl>
              <a:tblPr>
                <a:noFill/>
                <a:tableStyleId>{666F92B1-14A3-4C47-8DC1-5A4DCF794B23}</a:tableStyleId>
              </a:tblPr>
              <a:tblGrid>
                <a:gridCol w="822950">
                  <a:extLst>
                    <a:ext uri="{9D8B030D-6E8A-4147-A177-3AD203B41FA5}">
                      <a16:colId xmlns:a16="http://schemas.microsoft.com/office/drawing/2014/main" val="20000"/>
                    </a:ext>
                  </a:extLst>
                </a:gridCol>
                <a:gridCol w="1005850">
                  <a:extLst>
                    <a:ext uri="{9D8B030D-6E8A-4147-A177-3AD203B41FA5}">
                      <a16:colId xmlns:a16="http://schemas.microsoft.com/office/drawing/2014/main" val="20001"/>
                    </a:ext>
                  </a:extLst>
                </a:gridCol>
                <a:gridCol w="1005850">
                  <a:extLst>
                    <a:ext uri="{9D8B030D-6E8A-4147-A177-3AD203B41FA5}">
                      <a16:colId xmlns:a16="http://schemas.microsoft.com/office/drawing/2014/main" val="20002"/>
                    </a:ext>
                  </a:extLst>
                </a:gridCol>
                <a:gridCol w="1005850">
                  <a:extLst>
                    <a:ext uri="{9D8B030D-6E8A-4147-A177-3AD203B41FA5}">
                      <a16:colId xmlns:a16="http://schemas.microsoft.com/office/drawing/2014/main" val="20003"/>
                    </a:ext>
                  </a:extLst>
                </a:gridCol>
              </a:tblGrid>
              <a:tr h="274325">
                <a:tc>
                  <a:txBody>
                    <a:bodyPr/>
                    <a:lstStyle/>
                    <a:p>
                      <a:pPr marL="0" marR="0" lvl="0" indent="0" algn="ctr" rtl="0">
                        <a:lnSpc>
                          <a:spcPct val="100000"/>
                        </a:lnSpc>
                        <a:spcBef>
                          <a:spcPts val="0"/>
                        </a:spcBef>
                        <a:spcAft>
                          <a:spcPts val="0"/>
                        </a:spcAft>
                        <a:buNone/>
                      </a:pPr>
                      <a:r>
                        <a:rPr lang="en-US" sz="1000" b="1" i="0" u="none" strike="noStrike" cap="none">
                          <a:solidFill>
                            <a:srgbClr val="1B2A4A"/>
                          </a:solidFill>
                          <a:latin typeface="Consolas"/>
                          <a:ea typeface="Consolas"/>
                          <a:cs typeface="Consolas"/>
                          <a:sym typeface="Consolas"/>
                        </a:rPr>
                        <a:t>town</a:t>
                      </a:r>
                      <a:endParaRPr/>
                    </a:p>
                  </a:txBody>
                  <a:tcPr marL="36575" marR="36575" marT="27425" marB="27425" anchor="ctr">
                    <a:solidFill>
                      <a:srgbClr val="E8EEF7"/>
                    </a:solidFill>
                  </a:tcPr>
                </a:tc>
                <a:tc>
                  <a:txBody>
                    <a:bodyPr/>
                    <a:lstStyle/>
                    <a:p>
                      <a:pPr marL="0" marR="0" lvl="0" indent="0" algn="ctr" rtl="0">
                        <a:lnSpc>
                          <a:spcPct val="100000"/>
                        </a:lnSpc>
                        <a:spcBef>
                          <a:spcPts val="0"/>
                        </a:spcBef>
                        <a:spcAft>
                          <a:spcPts val="0"/>
                        </a:spcAft>
                        <a:buNone/>
                      </a:pPr>
                      <a:r>
                        <a:rPr lang="en-US" sz="1000" b="1" i="0" u="none" strike="noStrike" cap="none">
                          <a:solidFill>
                            <a:srgbClr val="1B2A4A"/>
                          </a:solidFill>
                          <a:latin typeface="Consolas"/>
                          <a:ea typeface="Consolas"/>
                          <a:cs typeface="Consolas"/>
                          <a:sym typeface="Consolas"/>
                        </a:rPr>
                        <a:t>town_BEDOK</a:t>
                      </a:r>
                      <a:endParaRPr/>
                    </a:p>
                  </a:txBody>
                  <a:tcPr marL="36575" marR="36575" marT="27425" marB="27425" anchor="ctr">
                    <a:solidFill>
                      <a:srgbClr val="E8EEF7"/>
                    </a:solidFill>
                  </a:tcPr>
                </a:tc>
                <a:tc>
                  <a:txBody>
                    <a:bodyPr/>
                    <a:lstStyle/>
                    <a:p>
                      <a:pPr marL="0" marR="0" lvl="0" indent="0" algn="ctr" rtl="0">
                        <a:lnSpc>
                          <a:spcPct val="100000"/>
                        </a:lnSpc>
                        <a:spcBef>
                          <a:spcPts val="0"/>
                        </a:spcBef>
                        <a:spcAft>
                          <a:spcPts val="0"/>
                        </a:spcAft>
                        <a:buNone/>
                      </a:pPr>
                      <a:r>
                        <a:rPr lang="en-US" sz="1000" b="1" i="0" u="none" strike="noStrike" cap="none">
                          <a:solidFill>
                            <a:srgbClr val="1B2A4A"/>
                          </a:solidFill>
                          <a:latin typeface="Consolas"/>
                          <a:ea typeface="Consolas"/>
                          <a:cs typeface="Consolas"/>
                          <a:sym typeface="Consolas"/>
                        </a:rPr>
                        <a:t>town_BISHAN</a:t>
                      </a:r>
                      <a:endParaRPr/>
                    </a:p>
                  </a:txBody>
                  <a:tcPr marL="36575" marR="36575" marT="27425" marB="27425" anchor="ctr">
                    <a:solidFill>
                      <a:srgbClr val="E8EEF7"/>
                    </a:solidFill>
                  </a:tcPr>
                </a:tc>
                <a:tc>
                  <a:txBody>
                    <a:bodyPr/>
                    <a:lstStyle/>
                    <a:p>
                      <a:pPr marL="0" marR="0" lvl="0" indent="0" algn="ctr" rtl="0">
                        <a:lnSpc>
                          <a:spcPct val="100000"/>
                        </a:lnSpc>
                        <a:spcBef>
                          <a:spcPts val="0"/>
                        </a:spcBef>
                        <a:spcAft>
                          <a:spcPts val="0"/>
                        </a:spcAft>
                        <a:buNone/>
                      </a:pPr>
                      <a:r>
                        <a:rPr lang="en-US" sz="1000" b="1" i="0" u="none" strike="noStrike" cap="none">
                          <a:solidFill>
                            <a:srgbClr val="1B2A4A"/>
                          </a:solidFill>
                          <a:latin typeface="Consolas"/>
                          <a:ea typeface="Consolas"/>
                          <a:cs typeface="Consolas"/>
                          <a:sym typeface="Consolas"/>
                        </a:rPr>
                        <a:t>town_YISHUN</a:t>
                      </a:r>
                      <a:endParaRPr/>
                    </a:p>
                  </a:txBody>
                  <a:tcPr marL="36575" marR="36575" marT="27425" marB="27425" anchor="ctr">
                    <a:solidFill>
                      <a:srgbClr val="E8EEF7"/>
                    </a:solidFill>
                  </a:tcPr>
                </a:tc>
                <a:extLst>
                  <a:ext uri="{0D108BD9-81ED-4DB2-BD59-A6C34878D82A}">
                    <a16:rowId xmlns:a16="http://schemas.microsoft.com/office/drawing/2014/main" val="10000"/>
                  </a:ext>
                </a:extLst>
              </a:tr>
              <a:tr h="274325">
                <a:tc>
                  <a:txBody>
                    <a:bodyPr/>
                    <a:lstStyle/>
                    <a:p>
                      <a:pPr marL="0" marR="0" lvl="0" indent="0" algn="ctr" rtl="0">
                        <a:lnSpc>
                          <a:spcPct val="100000"/>
                        </a:lnSpc>
                        <a:spcBef>
                          <a:spcPts val="0"/>
                        </a:spcBef>
                        <a:spcAft>
                          <a:spcPts val="0"/>
                        </a:spcAft>
                        <a:buNone/>
                      </a:pPr>
                      <a:r>
                        <a:rPr lang="en-US" sz="1000" b="1" i="0" u="none" strike="noStrike" cap="none">
                          <a:solidFill>
                            <a:srgbClr val="1F1F1F"/>
                          </a:solidFill>
                          <a:latin typeface="Consolas"/>
                          <a:ea typeface="Consolas"/>
                          <a:cs typeface="Consolas"/>
                          <a:sym typeface="Consolas"/>
                        </a:rPr>
                        <a:t>BISHAN</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0</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Open Sans"/>
                          <a:ea typeface="Open Sans"/>
                          <a:cs typeface="Open Sans"/>
                          <a:sym typeface="Open Sans"/>
                        </a:rPr>
                        <a:t>1</a:t>
                      </a:r>
                      <a:endParaRPr/>
                    </a:p>
                  </a:txBody>
                  <a:tcPr marL="36575" marR="36575" marT="27425" marB="27425" anchor="ctr">
                    <a:solidFill>
                      <a:srgbClr val="2C5697"/>
                    </a:solidFill>
                  </a:tcPr>
                </a:tc>
                <a:tc>
                  <a:txBody>
                    <a:bodyPr/>
                    <a:lstStyle/>
                    <a:p>
                      <a:pPr marL="0" marR="0" lvl="0" indent="0" algn="ctr"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0</a:t>
                      </a:r>
                      <a:endParaRPr/>
                    </a:p>
                  </a:txBody>
                  <a:tcPr marL="36575" marR="36575" marT="27425" marB="27425" anchor="ctr">
                    <a:solidFill>
                      <a:srgbClr val="FFFFFF"/>
                    </a:solidFill>
                  </a:tcPr>
                </a:tc>
                <a:extLst>
                  <a:ext uri="{0D108BD9-81ED-4DB2-BD59-A6C34878D82A}">
                    <a16:rowId xmlns:a16="http://schemas.microsoft.com/office/drawing/2014/main" val="10001"/>
                  </a:ext>
                </a:extLst>
              </a:tr>
              <a:tr h="274325">
                <a:tc>
                  <a:txBody>
                    <a:bodyPr/>
                    <a:lstStyle/>
                    <a:p>
                      <a:pPr marL="0" marR="0" lvl="0" indent="0" algn="ctr" rtl="0">
                        <a:lnSpc>
                          <a:spcPct val="100000"/>
                        </a:lnSpc>
                        <a:spcBef>
                          <a:spcPts val="0"/>
                        </a:spcBef>
                        <a:spcAft>
                          <a:spcPts val="0"/>
                        </a:spcAft>
                        <a:buNone/>
                      </a:pPr>
                      <a:r>
                        <a:rPr lang="en-US" sz="1000" b="1" i="0" u="none" strike="noStrike" cap="none">
                          <a:solidFill>
                            <a:srgbClr val="1F1F1F"/>
                          </a:solidFill>
                          <a:latin typeface="Consolas"/>
                          <a:ea typeface="Consolas"/>
                          <a:cs typeface="Consolas"/>
                          <a:sym typeface="Consolas"/>
                        </a:rPr>
                        <a:t>YISHUN</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0</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0</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Open Sans"/>
                          <a:ea typeface="Open Sans"/>
                          <a:cs typeface="Open Sans"/>
                          <a:sym typeface="Open Sans"/>
                        </a:rPr>
                        <a:t>1</a:t>
                      </a:r>
                      <a:endParaRPr/>
                    </a:p>
                  </a:txBody>
                  <a:tcPr marL="36575" marR="36575" marT="27425" marB="27425" anchor="ctr">
                    <a:solidFill>
                      <a:srgbClr val="2C5697"/>
                    </a:solidFill>
                  </a:tcPr>
                </a:tc>
                <a:extLst>
                  <a:ext uri="{0D108BD9-81ED-4DB2-BD59-A6C34878D82A}">
                    <a16:rowId xmlns:a16="http://schemas.microsoft.com/office/drawing/2014/main" val="10002"/>
                  </a:ext>
                </a:extLst>
              </a:tr>
              <a:tr h="274325">
                <a:tc>
                  <a:txBody>
                    <a:bodyPr/>
                    <a:lstStyle/>
                    <a:p>
                      <a:pPr marL="0" marR="0" lvl="0" indent="0" algn="ctr" rtl="0">
                        <a:lnSpc>
                          <a:spcPct val="100000"/>
                        </a:lnSpc>
                        <a:spcBef>
                          <a:spcPts val="0"/>
                        </a:spcBef>
                        <a:spcAft>
                          <a:spcPts val="0"/>
                        </a:spcAft>
                        <a:buNone/>
                      </a:pPr>
                      <a:r>
                        <a:rPr lang="en-US" sz="1000" b="1" i="0" u="none" strike="noStrike" cap="none">
                          <a:solidFill>
                            <a:srgbClr val="1F1F1F"/>
                          </a:solidFill>
                          <a:latin typeface="Consolas"/>
                          <a:ea typeface="Consolas"/>
                          <a:cs typeface="Consolas"/>
                          <a:sym typeface="Consolas"/>
                        </a:rPr>
                        <a:t>BEDOK</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Open Sans"/>
                          <a:ea typeface="Open Sans"/>
                          <a:cs typeface="Open Sans"/>
                          <a:sym typeface="Open Sans"/>
                        </a:rPr>
                        <a:t>1</a:t>
                      </a:r>
                      <a:endParaRPr/>
                    </a:p>
                  </a:txBody>
                  <a:tcPr marL="36575" marR="36575" marT="27425" marB="27425" anchor="ctr">
                    <a:solidFill>
                      <a:srgbClr val="2C5697"/>
                    </a:solidFill>
                  </a:tcPr>
                </a:tc>
                <a:tc>
                  <a:txBody>
                    <a:bodyPr/>
                    <a:lstStyle/>
                    <a:p>
                      <a:pPr marL="0" marR="0" lvl="0" indent="0" algn="ctr"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0</a:t>
                      </a:r>
                      <a:endParaRPr/>
                    </a:p>
                  </a:txBody>
                  <a:tcPr marL="36575" marR="36575" marT="27425" marB="27425" anchor="ctr">
                    <a:solidFill>
                      <a:srgbClr val="FFFFFF"/>
                    </a:solidFill>
                  </a:tcPr>
                </a:tc>
                <a:tc>
                  <a:txBody>
                    <a:bodyPr/>
                    <a:lstStyle/>
                    <a:p>
                      <a:pPr marL="0" marR="0" lvl="0" indent="0" algn="ctr" rtl="0">
                        <a:lnSpc>
                          <a:spcPct val="100000"/>
                        </a:lnSpc>
                        <a:spcBef>
                          <a:spcPts val="0"/>
                        </a:spcBef>
                        <a:spcAft>
                          <a:spcPts val="0"/>
                        </a:spcAft>
                        <a:buNone/>
                      </a:pPr>
                      <a:r>
                        <a:rPr lang="en-US" sz="1000" b="0" i="0" u="none" strike="noStrike" cap="none">
                          <a:solidFill>
                            <a:srgbClr val="1F1F1F"/>
                          </a:solidFill>
                          <a:latin typeface="Open Sans"/>
                          <a:ea typeface="Open Sans"/>
                          <a:cs typeface="Open Sans"/>
                          <a:sym typeface="Open Sans"/>
                        </a:rPr>
                        <a:t>0</a:t>
                      </a:r>
                      <a:endParaRPr/>
                    </a:p>
                  </a:txBody>
                  <a:tcPr marL="36575" marR="36575" marT="27425" marB="27425" anchor="ctr">
                    <a:solidFill>
                      <a:srgbClr val="FFFFFF"/>
                    </a:solidFill>
                  </a:tcPr>
                </a:tc>
                <a:extLst>
                  <a:ext uri="{0D108BD9-81ED-4DB2-BD59-A6C34878D82A}">
                    <a16:rowId xmlns:a16="http://schemas.microsoft.com/office/drawing/2014/main" val="10003"/>
                  </a:ext>
                </a:extLst>
              </a:tr>
            </a:tbl>
          </a:graphicData>
        </a:graphic>
      </p:graphicFrame>
      <p:sp>
        <p:nvSpPr>
          <p:cNvPr id="247" name="Google Shape;247;p25"/>
          <p:cNvSpPr txBox="1"/>
          <p:nvPr/>
        </p:nvSpPr>
        <p:spPr>
          <a:xfrm>
            <a:off x="4846320" y="3611880"/>
            <a:ext cx="3840480" cy="27432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100" b="1" i="0" u="none" strike="noStrike" cap="none">
                <a:solidFill>
                  <a:srgbClr val="5F6368"/>
                </a:solidFill>
                <a:latin typeface="Open Sans"/>
                <a:ea typeface="Open Sans"/>
                <a:cs typeface="Open Sans"/>
                <a:sym typeface="Open Sans"/>
              </a:rPr>
              <a:t>The Pipeline</a:t>
            </a:r>
            <a:endParaRPr/>
          </a:p>
        </p:txBody>
      </p:sp>
      <p:sp>
        <p:nvSpPr>
          <p:cNvPr id="248" name="Google Shape;248;p25"/>
          <p:cNvSpPr/>
          <p:nvPr/>
        </p:nvSpPr>
        <p:spPr>
          <a:xfrm>
            <a:off x="4846320" y="3886200"/>
            <a:ext cx="1005840" cy="457200"/>
          </a:xfrm>
          <a:prstGeom prst="roundRect">
            <a:avLst>
              <a:gd name="adj" fmla="val 12000"/>
            </a:avLst>
          </a:prstGeom>
          <a:solidFill>
            <a:srgbClr val="C9D6E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000" b="1" i="0" u="none" strike="noStrike" cap="none">
                <a:solidFill>
                  <a:srgbClr val="1B2A4A"/>
                </a:solidFill>
                <a:latin typeface="Open Sans"/>
                <a:ea typeface="Open Sans"/>
                <a:cs typeface="Open Sans"/>
                <a:sym typeface="Open Sans"/>
              </a:rPr>
              <a:t>Raw columns</a:t>
            </a:r>
            <a:endParaRPr/>
          </a:p>
        </p:txBody>
      </p:sp>
      <p:cxnSp>
        <p:nvCxnSpPr>
          <p:cNvPr id="249" name="Google Shape;249;p25"/>
          <p:cNvCxnSpPr/>
          <p:nvPr/>
        </p:nvCxnSpPr>
        <p:spPr>
          <a:xfrm>
            <a:off x="5888736" y="4114800"/>
            <a:ext cx="246888" cy="0"/>
          </a:xfrm>
          <a:prstGeom prst="straightConnector1">
            <a:avLst/>
          </a:prstGeom>
          <a:noFill/>
          <a:ln w="15875" cap="flat" cmpd="sng">
            <a:solidFill>
              <a:srgbClr val="5F6368"/>
            </a:solidFill>
            <a:prstDash val="solid"/>
            <a:round/>
            <a:headEnd type="none" w="sm" len="sm"/>
            <a:tailEnd type="triangle" w="med" len="med"/>
          </a:ln>
          <a:effectLst>
            <a:outerShdw blurRad="40000" dist="20000" dir="5400000" rotWithShape="0">
              <a:srgbClr val="000000">
                <a:alpha val="38039"/>
              </a:srgbClr>
            </a:outerShdw>
          </a:effectLst>
        </p:spPr>
      </p:cxnSp>
      <p:sp>
        <p:nvSpPr>
          <p:cNvPr id="250" name="Google Shape;250;p25"/>
          <p:cNvSpPr/>
          <p:nvPr/>
        </p:nvSpPr>
        <p:spPr>
          <a:xfrm>
            <a:off x="6172200" y="3886200"/>
            <a:ext cx="1325880" cy="457200"/>
          </a:xfrm>
          <a:prstGeom prst="roundRect">
            <a:avLst>
              <a:gd name="adj" fmla="val 12000"/>
            </a:avLst>
          </a:prstGeom>
          <a:solidFill>
            <a:srgbClr val="2C5697"/>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Open Sans"/>
                <a:ea typeface="Open Sans"/>
                <a:cs typeface="Open Sans"/>
                <a:sym typeface="Open Sans"/>
              </a:rPr>
              <a:t>OneHotEncoder</a:t>
            </a:r>
            <a:endParaRPr/>
          </a:p>
        </p:txBody>
      </p:sp>
      <p:cxnSp>
        <p:nvCxnSpPr>
          <p:cNvPr id="251" name="Google Shape;251;p25"/>
          <p:cNvCxnSpPr/>
          <p:nvPr/>
        </p:nvCxnSpPr>
        <p:spPr>
          <a:xfrm>
            <a:off x="7534655" y="4114800"/>
            <a:ext cx="246889" cy="0"/>
          </a:xfrm>
          <a:prstGeom prst="straightConnector1">
            <a:avLst/>
          </a:prstGeom>
          <a:noFill/>
          <a:ln w="15875" cap="flat" cmpd="sng">
            <a:solidFill>
              <a:srgbClr val="5F6368"/>
            </a:solidFill>
            <a:prstDash val="solid"/>
            <a:round/>
            <a:headEnd type="none" w="sm" len="sm"/>
            <a:tailEnd type="triangle" w="med" len="med"/>
          </a:ln>
          <a:effectLst>
            <a:outerShdw blurRad="40000" dist="20000" dir="5400000" rotWithShape="0">
              <a:srgbClr val="000000">
                <a:alpha val="38039"/>
              </a:srgbClr>
            </a:outerShdw>
          </a:effectLst>
        </p:spPr>
      </p:cxnSp>
      <p:sp>
        <p:nvSpPr>
          <p:cNvPr id="252" name="Google Shape;252;p25"/>
          <p:cNvSpPr/>
          <p:nvPr/>
        </p:nvSpPr>
        <p:spPr>
          <a:xfrm>
            <a:off x="7818120" y="3886200"/>
            <a:ext cx="868680" cy="457200"/>
          </a:xfrm>
          <a:prstGeom prst="roundRect">
            <a:avLst>
              <a:gd name="adj" fmla="val 12000"/>
            </a:avLst>
          </a:prstGeom>
          <a:solidFill>
            <a:srgbClr val="1B2A4A"/>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000" b="1" i="0" u="none" strike="noStrike" cap="none">
                <a:solidFill>
                  <a:srgbClr val="FFFFFF"/>
                </a:solidFill>
                <a:latin typeface="Open Sans"/>
                <a:ea typeface="Open Sans"/>
                <a:cs typeface="Open Sans"/>
                <a:sym typeface="Open Sans"/>
              </a:rPr>
              <a:t>Model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6"/>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258" name="Google Shape;258;p26"/>
          <p:cNvSpPr/>
          <p:nvPr/>
        </p:nvSpPr>
        <p:spPr>
          <a:xfrm>
            <a:off x="0" y="0"/>
            <a:ext cx="9143700" cy="5143500"/>
          </a:xfrm>
          <a:prstGeom prst="rect">
            <a:avLst/>
          </a:prstGeom>
          <a:solidFill>
            <a:srgbClr val="1B2A4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59" name="Google Shape;259;p26"/>
          <p:cNvSpPr txBox="1"/>
          <p:nvPr/>
        </p:nvSpPr>
        <p:spPr>
          <a:xfrm>
            <a:off x="258700" y="619100"/>
            <a:ext cx="8766900" cy="33141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1" i="0" u="none" strike="noStrike" cap="none">
                <a:solidFill>
                  <a:srgbClr val="C8102E"/>
                </a:solidFill>
                <a:latin typeface="Open Sans"/>
                <a:ea typeface="Open Sans"/>
                <a:cs typeface="Open Sans"/>
                <a:sym typeface="Open Sans"/>
              </a:rPr>
              <a:t>🟢  CODE-ALONG</a:t>
            </a:r>
            <a:endParaRPr sz="1400" b="1" i="0" u="none" strike="noStrike" cap="none">
              <a:solidFill>
                <a:srgbClr val="C8102E"/>
              </a:solidFill>
              <a:latin typeface="Open Sans"/>
              <a:ea typeface="Open Sans"/>
              <a:cs typeface="Open Sans"/>
              <a:sym typeface="Open Sans"/>
            </a:endParaRPr>
          </a:p>
          <a:p>
            <a:pPr marL="0" marR="0" lvl="0" indent="0" algn="l" rtl="0">
              <a:lnSpc>
                <a:spcPct val="120000"/>
              </a:lnSpc>
              <a:spcBef>
                <a:spcPts val="1200"/>
              </a:spcBef>
              <a:spcAft>
                <a:spcPts val="0"/>
              </a:spcAft>
              <a:buNone/>
            </a:pPr>
            <a:r>
              <a:rPr lang="en-US" sz="2400" b="0" i="0" u="none" strike="noStrike" cap="none">
                <a:solidFill>
                  <a:srgbClr val="FFFFFF"/>
                </a:solidFill>
                <a:latin typeface="Consolas"/>
                <a:ea typeface="Consolas"/>
                <a:cs typeface="Consolas"/>
                <a:sym typeface="Consolas"/>
              </a:rPr>
              <a:t>Open: </a:t>
            </a:r>
            <a:r>
              <a:rPr lang="en-US" sz="2400" b="1" i="0" u="none" strike="noStrike" cap="none">
                <a:solidFill>
                  <a:srgbClr val="00FF00"/>
                </a:solidFill>
                <a:latin typeface="Consolas"/>
                <a:ea typeface="Consolas"/>
                <a:cs typeface="Consolas"/>
                <a:sym typeface="Consolas"/>
              </a:rPr>
              <a:t>hdb_price_model.ipynb</a:t>
            </a:r>
            <a:endParaRPr/>
          </a:p>
          <a:p>
            <a:pPr marL="0" marR="0" lvl="0" indent="0" algn="l" rtl="0">
              <a:lnSpc>
                <a:spcPct val="120000"/>
              </a:lnSpc>
              <a:spcBef>
                <a:spcPts val="1200"/>
              </a:spcBef>
              <a:spcAft>
                <a:spcPts val="0"/>
              </a:spcAft>
              <a:buNone/>
            </a:pPr>
            <a:r>
              <a:rPr lang="en-US" sz="1700" b="1" i="0" u="none" strike="noStrike" cap="none">
                <a:solidFill>
                  <a:srgbClr val="F4F5F7"/>
                </a:solidFill>
                <a:latin typeface="Open Sans"/>
                <a:ea typeface="Open Sans"/>
                <a:cs typeface="Open Sans"/>
                <a:sym typeface="Open Sans"/>
              </a:rPr>
              <a:t>What you'll do</a:t>
            </a:r>
            <a:endParaRPr/>
          </a:p>
          <a:p>
            <a:pPr marL="0" marR="0" lvl="0" indent="0" algn="l" rtl="0">
              <a:lnSpc>
                <a:spcPct val="120000"/>
              </a:lnSpc>
              <a:spcBef>
                <a:spcPts val="800"/>
              </a:spcBef>
              <a:spcAft>
                <a:spcPts val="0"/>
              </a:spcAft>
              <a:buNone/>
            </a:pPr>
            <a:r>
              <a:rPr lang="en-US" sz="1300" b="0" i="0" u="none" strike="noStrike" cap="none">
                <a:solidFill>
                  <a:srgbClr val="FFFFFF"/>
                </a:solidFill>
                <a:latin typeface="Open Sans"/>
                <a:ea typeface="Open Sans"/>
                <a:cs typeface="Open Sans"/>
                <a:sym typeface="Open Sans"/>
              </a:rPr>
              <a:t>1.  Explore the data: price distribution, price by town, flat type and storey</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2.  Engineer features and build the one-hot encoding Pipeline</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3.  Train Linear Regression, Random Forest and Gradient Boosting</a:t>
            </a:r>
            <a:endParaRPr/>
          </a:p>
          <a:p>
            <a:pPr marL="0" marR="0" lvl="0" indent="0" algn="l" rtl="0">
              <a:lnSpc>
                <a:spcPct val="120000"/>
              </a:lnSpc>
              <a:spcBef>
                <a:spcPts val="700"/>
              </a:spcBef>
              <a:spcAft>
                <a:spcPts val="700"/>
              </a:spcAft>
              <a:buNone/>
            </a:pPr>
            <a:r>
              <a:rPr lang="en-US" sz="1300" b="0" i="0" u="none" strike="noStrike" cap="none">
                <a:solidFill>
                  <a:srgbClr val="FFFFFF"/>
                </a:solidFill>
                <a:latin typeface="Open Sans"/>
                <a:ea typeface="Open Sans"/>
                <a:cs typeface="Open Sans"/>
                <a:sym typeface="Open Sans"/>
              </a:rPr>
              <a:t>4.  Compare them with 5-fold cross-validation, plus file size and speed</a:t>
            </a:r>
            <a:endParaRPr/>
          </a:p>
        </p:txBody>
      </p:sp>
      <p:sp>
        <p:nvSpPr>
          <p:cNvPr id="260" name="Google Shape;260;p26"/>
          <p:cNvSpPr/>
          <p:nvPr/>
        </p:nvSpPr>
        <p:spPr>
          <a:xfrm>
            <a:off x="411475" y="3774200"/>
            <a:ext cx="8450700" cy="691500"/>
          </a:xfrm>
          <a:prstGeom prst="rect">
            <a:avLst/>
          </a:prstGeom>
          <a:solidFill>
            <a:schemeClr val="accent1"/>
          </a:solidFill>
          <a:ln w="9525" cap="flat" cmpd="sng">
            <a:solidFill>
              <a:srgbClr val="4F81B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61" name="Google Shape;261;p26"/>
          <p:cNvSpPr txBox="1"/>
          <p:nvPr/>
        </p:nvSpPr>
        <p:spPr>
          <a:xfrm>
            <a:off x="603100" y="3795950"/>
            <a:ext cx="80781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Open Sans"/>
                <a:ea typeface="Open Sans"/>
                <a:cs typeface="Open Sans"/>
                <a:sym typeface="Open Sans"/>
              </a:rPr>
              <a:t>Select the hdb_project kernel first. A full run takes about 1 to 2 minutes; cross-validating the tree models is the slowest part.</a:t>
            </a:r>
            <a:endParaRPr sz="1400" b="1" i="0" u="none" strike="noStrike" cap="non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267" name="Google Shape;267;p27"/>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268" name="Google Shape;268;p27"/>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Results: which model wins?</a:t>
            </a:r>
            <a:endParaRPr sz="1100" b="0" i="0" u="none" strike="noStrike" cap="none">
              <a:solidFill>
                <a:srgbClr val="000000"/>
              </a:solidFill>
              <a:latin typeface="Arial"/>
              <a:ea typeface="Arial"/>
              <a:cs typeface="Arial"/>
              <a:sym typeface="Arial"/>
            </a:endParaRPr>
          </a:p>
        </p:txBody>
      </p:sp>
      <p:graphicFrame>
        <p:nvGraphicFramePr>
          <p:cNvPr id="269" name="Google Shape;269;p27"/>
          <p:cNvGraphicFramePr/>
          <p:nvPr/>
        </p:nvGraphicFramePr>
        <p:xfrm>
          <a:off x="411480" y="868680"/>
          <a:ext cx="3000000" cy="3000000"/>
        </p:xfrm>
        <a:graphic>
          <a:graphicData uri="http://schemas.openxmlformats.org/drawingml/2006/table">
            <a:tbl>
              <a:tblPr>
                <a:noFill/>
                <a:tableStyleId>{894B10DC-2A97-4701-8D3A-C7F3630570D0}</a:tableStyleId>
              </a:tblPr>
              <a:tblGrid>
                <a:gridCol w="18745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868675">
                  <a:extLst>
                    <a:ext uri="{9D8B030D-6E8A-4147-A177-3AD203B41FA5}">
                      <a16:colId xmlns:a16="http://schemas.microsoft.com/office/drawing/2014/main" val="20002"/>
                    </a:ext>
                  </a:extLst>
                </a:gridCol>
                <a:gridCol w="1005850">
                  <a:extLst>
                    <a:ext uri="{9D8B030D-6E8A-4147-A177-3AD203B41FA5}">
                      <a16:colId xmlns:a16="http://schemas.microsoft.com/office/drawing/2014/main" val="20003"/>
                    </a:ext>
                  </a:extLst>
                </a:gridCol>
              </a:tblGrid>
              <a:tr h="365750">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B2A4A"/>
                          </a:solidFill>
                          <a:latin typeface="Open Sans"/>
                          <a:ea typeface="Open Sans"/>
                          <a:cs typeface="Open Sans"/>
                          <a:sym typeface="Open Sans"/>
                        </a:rPr>
                        <a:t>Model</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B2A4A"/>
                          </a:solidFill>
                          <a:latin typeface="Open Sans"/>
                          <a:ea typeface="Open Sans"/>
                          <a:cs typeface="Open Sans"/>
                          <a:sym typeface="Open Sans"/>
                        </a:rPr>
                        <a:t>CV RMSE (S$)</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B2A4A"/>
                          </a:solidFill>
                          <a:latin typeface="Open Sans"/>
                          <a:ea typeface="Open Sans"/>
                          <a:cs typeface="Open Sans"/>
                          <a:sym typeface="Open Sans"/>
                        </a:rPr>
                        <a:t>Test R²</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B2A4A"/>
                          </a:solidFill>
                          <a:latin typeface="Open Sans"/>
                          <a:ea typeface="Open Sans"/>
                          <a:cs typeface="Open Sans"/>
                          <a:sym typeface="Open Sans"/>
                        </a:rPr>
                        <a:t>File size</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E8EEF7"/>
                    </a:solidFill>
                  </a:tcPr>
                </a:tc>
                <a:extLst>
                  <a:ext uri="{0D108BD9-81ED-4DB2-BD59-A6C34878D82A}">
                    <a16:rowId xmlns:a16="http://schemas.microsoft.com/office/drawing/2014/main" val="10000"/>
                  </a:ext>
                </a:extLst>
              </a:tr>
              <a:tr h="384050">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F1F1F"/>
                          </a:solidFill>
                          <a:latin typeface="Open Sans"/>
                          <a:ea typeface="Open Sans"/>
                          <a:cs typeface="Open Sans"/>
                          <a:sym typeface="Open Sans"/>
                        </a:rPr>
                        <a:t>Linear Regression</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0" i="0" u="none" strike="noStrike" cap="none">
                          <a:solidFill>
                            <a:srgbClr val="1F1F1F"/>
                          </a:solidFill>
                          <a:latin typeface="Open Sans"/>
                          <a:ea typeface="Open Sans"/>
                          <a:cs typeface="Open Sans"/>
                          <a:sym typeface="Open Sans"/>
                        </a:rPr>
                        <a:t>60,245</a:t>
                      </a:r>
                      <a:endParaRPr sz="11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0" i="0" u="none" strike="noStrike" cap="none">
                          <a:solidFill>
                            <a:srgbClr val="1F1F1F"/>
                          </a:solidFill>
                          <a:latin typeface="Open Sans"/>
                          <a:ea typeface="Open Sans"/>
                          <a:cs typeface="Open Sans"/>
                          <a:sym typeface="Open Sans"/>
                        </a:rPr>
                        <a:t>0.848</a:t>
                      </a:r>
                      <a:endParaRPr sz="11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0" i="0" u="none" strike="noStrike" cap="none">
                          <a:solidFill>
                            <a:srgbClr val="1F1F1F"/>
                          </a:solidFill>
                          <a:latin typeface="Open Sans"/>
                          <a:ea typeface="Open Sans"/>
                          <a:cs typeface="Open Sans"/>
                          <a:sym typeface="Open Sans"/>
                        </a:rPr>
                        <a:t>&lt; 0.1 MB</a:t>
                      </a:r>
                      <a:endParaRPr sz="11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384050">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F1F1F"/>
                          </a:solidFill>
                          <a:latin typeface="Open Sans"/>
                          <a:ea typeface="Open Sans"/>
                          <a:cs typeface="Open Sans"/>
                          <a:sym typeface="Open Sans"/>
                        </a:rPr>
                        <a:t>Random Forest</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0" i="0" u="none" strike="noStrike" cap="none">
                          <a:solidFill>
                            <a:srgbClr val="1F1F1F"/>
                          </a:solidFill>
                          <a:latin typeface="Open Sans"/>
                          <a:ea typeface="Open Sans"/>
                          <a:cs typeface="Open Sans"/>
                          <a:sym typeface="Open Sans"/>
                        </a:rPr>
                        <a:t>36,661</a:t>
                      </a:r>
                      <a:endParaRPr sz="14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0" i="0" u="none" strike="noStrike" cap="none">
                          <a:solidFill>
                            <a:srgbClr val="1F1F1F"/>
                          </a:solidFill>
                          <a:latin typeface="Open Sans"/>
                          <a:ea typeface="Open Sans"/>
                          <a:cs typeface="Open Sans"/>
                          <a:sym typeface="Open Sans"/>
                        </a:rPr>
                        <a:t>0.947</a:t>
                      </a:r>
                      <a:endParaRPr sz="14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0" i="0" u="none" strike="noStrike" cap="none">
                          <a:solidFill>
                            <a:srgbClr val="1F1F1F"/>
                          </a:solidFill>
                          <a:latin typeface="Open Sans"/>
                          <a:ea typeface="Open Sans"/>
                          <a:cs typeface="Open Sans"/>
                          <a:sym typeface="Open Sans"/>
                        </a:rPr>
                        <a:t>~26 MB</a:t>
                      </a:r>
                      <a:endParaRPr sz="14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384050">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F1F1F"/>
                          </a:solidFill>
                          <a:latin typeface="Open Sans"/>
                          <a:ea typeface="Open Sans"/>
                          <a:cs typeface="Open Sans"/>
                          <a:sym typeface="Open Sans"/>
                        </a:rPr>
                        <a:t>Gradient Boosting</a:t>
                      </a:r>
                      <a:endParaRPr sz="1100" b="1"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FDECEE"/>
                    </a:solidFill>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F1F1F"/>
                          </a:solidFill>
                          <a:latin typeface="Open Sans"/>
                          <a:ea typeface="Open Sans"/>
                          <a:cs typeface="Open Sans"/>
                          <a:sym typeface="Open Sans"/>
                        </a:rPr>
                        <a:t>36,121</a:t>
                      </a:r>
                      <a:endParaRPr sz="11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FDECEE"/>
                    </a:solidFill>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F1F1F"/>
                          </a:solidFill>
                          <a:latin typeface="Open Sans"/>
                          <a:ea typeface="Open Sans"/>
                          <a:cs typeface="Open Sans"/>
                          <a:sym typeface="Open Sans"/>
                        </a:rPr>
                        <a:t>0.947</a:t>
                      </a:r>
                      <a:endParaRPr sz="11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FDECEE"/>
                    </a:solidFill>
                  </a:tcPr>
                </a:tc>
                <a:tc>
                  <a:txBody>
                    <a:bodyPr/>
                    <a:lstStyle/>
                    <a:p>
                      <a:pPr marL="0" marR="0" lvl="0" indent="0" algn="l" rtl="0">
                        <a:lnSpc>
                          <a:spcPct val="110000"/>
                        </a:lnSpc>
                        <a:spcBef>
                          <a:spcPts val="0"/>
                        </a:spcBef>
                        <a:spcAft>
                          <a:spcPts val="0"/>
                        </a:spcAft>
                        <a:buClr>
                          <a:srgbClr val="000000"/>
                        </a:buClr>
                        <a:buSzPts val="1100"/>
                        <a:buFont typeface="Arial"/>
                        <a:buNone/>
                      </a:pPr>
                      <a:r>
                        <a:rPr lang="en-US" sz="1100" b="1" i="0" u="none" strike="noStrike" cap="none">
                          <a:solidFill>
                            <a:srgbClr val="1F1F1F"/>
                          </a:solidFill>
                          <a:latin typeface="Open Sans"/>
                          <a:ea typeface="Open Sans"/>
                          <a:cs typeface="Open Sans"/>
                          <a:sym typeface="Open Sans"/>
                        </a:rPr>
                        <a:t>~0.7 MB</a:t>
                      </a:r>
                      <a:endParaRPr sz="1100" u="none" strike="noStrike" cap="none"/>
                    </a:p>
                  </a:txBody>
                  <a:tcPr marL="82300" marR="82300" marT="54875" marB="54875" anchor="ctr">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FDECEE"/>
                    </a:solidFill>
                  </a:tcPr>
                </a:tc>
                <a:extLst>
                  <a:ext uri="{0D108BD9-81ED-4DB2-BD59-A6C34878D82A}">
                    <a16:rowId xmlns:a16="http://schemas.microsoft.com/office/drawing/2014/main" val="10003"/>
                  </a:ext>
                </a:extLst>
              </a:tr>
            </a:tbl>
          </a:graphicData>
        </a:graphic>
      </p:graphicFrame>
      <p:sp>
        <p:nvSpPr>
          <p:cNvPr id="270" name="Google Shape;270;p27"/>
          <p:cNvSpPr txBox="1"/>
          <p:nvPr/>
        </p:nvSpPr>
        <p:spPr>
          <a:xfrm>
            <a:off x="411480" y="2651760"/>
            <a:ext cx="4846320" cy="201168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300" b="1" i="0" u="none" strike="noStrike" cap="none">
                <a:solidFill>
                  <a:srgbClr val="2C5697"/>
                </a:solidFill>
                <a:latin typeface="Open Sans"/>
                <a:ea typeface="Open Sans"/>
                <a:cs typeface="Open Sans"/>
                <a:sym typeface="Open Sans"/>
              </a:rPr>
              <a:t>Tree models cut the error by about 40%</a:t>
            </a:r>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Price depends on the features in curved, interacting ways that a straight line cannot capture.</a:t>
            </a:r>
            <a:endParaRPr/>
          </a:p>
          <a:p>
            <a:pPr marL="0" marR="0" lvl="0" indent="0" algn="l" rtl="0">
              <a:lnSpc>
                <a:spcPct val="115000"/>
              </a:lnSpc>
              <a:spcBef>
                <a:spcPts val="1000"/>
              </a:spcBef>
              <a:spcAft>
                <a:spcPts val="0"/>
              </a:spcAft>
              <a:buNone/>
            </a:pPr>
            <a:r>
              <a:rPr lang="en-US" sz="1300" b="1" i="0" u="none" strike="noStrike" cap="none">
                <a:solidFill>
                  <a:srgbClr val="2C5697"/>
                </a:solidFill>
                <a:latin typeface="Open Sans"/>
                <a:ea typeface="Open Sans"/>
                <a:cs typeface="Open Sans"/>
                <a:sym typeface="Open Sans"/>
              </a:rPr>
              <a:t>Features mattered even more</a:t>
            </a:r>
            <a:endParaRPr/>
          </a:p>
          <a:p>
            <a:pPr marL="0" marR="0" lvl="0" indent="0" algn="l" rtl="0">
              <a:lnSpc>
                <a:spcPct val="115000"/>
              </a:lnSpc>
              <a:spcBef>
                <a:spcPts val="200"/>
              </a:spcBef>
              <a:spcAft>
                <a:spcPts val="0"/>
              </a:spcAft>
              <a:buNone/>
            </a:pPr>
            <a:r>
              <a:rPr lang="en-US" sz="1200" b="0" i="0" u="none" strike="noStrike" cap="none">
                <a:solidFill>
                  <a:srgbClr val="1F1F1F"/>
                </a:solidFill>
                <a:latin typeface="Open Sans"/>
                <a:ea typeface="Open Sans"/>
                <a:cs typeface="Open Sans"/>
                <a:sym typeface="Open Sans"/>
              </a:rPr>
              <a:t>The original project used Linear Regression on 3 numeric columns only: R² ≈ 0.54. Adding town and flat type lifted it to 0.85.</a:t>
            </a:r>
            <a:endParaRPr/>
          </a:p>
        </p:txBody>
      </p:sp>
      <p:pic>
        <p:nvPicPr>
          <p:cNvPr id="271" name="Google Shape;271;p27"/>
          <p:cNvPicPr preferRelativeResize="0"/>
          <p:nvPr/>
        </p:nvPicPr>
        <p:blipFill rotWithShape="1">
          <a:blip r:embed="rId3">
            <a:alphaModFix/>
          </a:blip>
          <a:srcRect/>
          <a:stretch/>
        </p:blipFill>
        <p:spPr>
          <a:xfrm>
            <a:off x="5440680" y="822960"/>
            <a:ext cx="3337560" cy="3657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8"/>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277" name="Google Shape;277;p28"/>
          <p:cNvSpPr/>
          <p:nvPr/>
        </p:nvSpPr>
        <p:spPr>
          <a:xfrm>
            <a:off x="0" y="0"/>
            <a:ext cx="9143700" cy="109800"/>
          </a:xfrm>
          <a:prstGeom prst="rect">
            <a:avLst/>
          </a:prstGeom>
          <a:solidFill>
            <a:srgbClr val="2C569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278" name="Google Shape;278;p28"/>
          <p:cNvSpPr txBox="1"/>
          <p:nvPr/>
        </p:nvSpPr>
        <p:spPr>
          <a:xfrm>
            <a:off x="411480" y="240030"/>
            <a:ext cx="8229600" cy="354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US" sz="2300" b="1" i="0" u="none" strike="noStrike" cap="none">
                <a:solidFill>
                  <a:srgbClr val="1B2A4A"/>
                </a:solidFill>
                <a:latin typeface="Open Sans"/>
                <a:ea typeface="Open Sans"/>
                <a:cs typeface="Open Sans"/>
                <a:sym typeface="Open Sans"/>
              </a:rPr>
              <a:t>Choosing the model to deploy</a:t>
            </a:r>
            <a:endParaRPr sz="1100" b="0" i="0" u="none" strike="noStrike" cap="none">
              <a:solidFill>
                <a:srgbClr val="000000"/>
              </a:solidFill>
              <a:latin typeface="Arial"/>
              <a:ea typeface="Arial"/>
              <a:cs typeface="Arial"/>
              <a:sym typeface="Arial"/>
            </a:endParaRPr>
          </a:p>
        </p:txBody>
      </p:sp>
      <p:sp>
        <p:nvSpPr>
          <p:cNvPr id="279" name="Google Shape;279;p28"/>
          <p:cNvSpPr txBox="1"/>
          <p:nvPr/>
        </p:nvSpPr>
        <p:spPr>
          <a:xfrm>
            <a:off x="411480" y="685800"/>
            <a:ext cx="82296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280" name="Google Shape;280;p28"/>
          <p:cNvSpPr txBox="1"/>
          <p:nvPr/>
        </p:nvSpPr>
        <p:spPr>
          <a:xfrm>
            <a:off x="411480" y="1920240"/>
            <a:ext cx="4754880" cy="22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150"/>
              <a:buFont typeface="Arial"/>
              <a:buNone/>
            </a:pPr>
            <a:r>
              <a:rPr lang="en-US" sz="1150" b="1" i="0" u="none" strike="noStrike" cap="none">
                <a:solidFill>
                  <a:srgbClr val="2C5697"/>
                </a:solidFill>
                <a:latin typeface="Open Sans"/>
                <a:ea typeface="Open Sans"/>
                <a:cs typeface="Open Sans"/>
                <a:sym typeface="Open Sans"/>
              </a:rPr>
              <a:t>Accuracy</a:t>
            </a:r>
            <a:endParaRPr sz="1300" b="1" i="0" u="none" strike="noStrike" cap="none">
              <a:solidFill>
                <a:srgbClr val="2C5697"/>
              </a:solidFill>
              <a:latin typeface="Open Sans"/>
              <a:ea typeface="Open Sans"/>
              <a:cs typeface="Open Sans"/>
              <a:sym typeface="Open Sans"/>
            </a:endParaRPr>
          </a:p>
          <a:p>
            <a:pPr marL="0" marR="0" lvl="0" indent="0" algn="l" rtl="0">
              <a:lnSpc>
                <a:spcPct val="115000"/>
              </a:lnSpc>
              <a:spcBef>
                <a:spcPts val="200"/>
              </a:spcBef>
              <a:spcAft>
                <a:spcPts val="0"/>
              </a:spcAft>
              <a:buNone/>
            </a:pPr>
            <a:r>
              <a:rPr lang="en-US" sz="1150" b="0" i="0" u="none" strike="noStrike" cap="none">
                <a:solidFill>
                  <a:srgbClr val="1F1F1F"/>
                </a:solidFill>
                <a:latin typeface="Open Sans"/>
                <a:ea typeface="Open Sans"/>
                <a:cs typeface="Open Sans"/>
                <a:sym typeface="Open Sans"/>
              </a:rPr>
              <a:t>Gradient Boosting and Random Forest tie on test R² (0.947). Gradient Boosting has the lower CV RMSE.</a:t>
            </a:r>
            <a:endParaRPr/>
          </a:p>
          <a:p>
            <a:pPr marL="0" marR="0" lvl="0" indent="0" algn="l" rtl="0">
              <a:lnSpc>
                <a:spcPct val="115000"/>
              </a:lnSpc>
              <a:spcBef>
                <a:spcPts val="500"/>
              </a:spcBef>
              <a:spcAft>
                <a:spcPts val="0"/>
              </a:spcAft>
              <a:buNone/>
            </a:pPr>
            <a:r>
              <a:rPr lang="en-US" sz="1150" b="1" i="0" u="none" strike="noStrike" cap="none">
                <a:solidFill>
                  <a:srgbClr val="2C5697"/>
                </a:solidFill>
                <a:latin typeface="Open Sans"/>
                <a:ea typeface="Open Sans"/>
                <a:cs typeface="Open Sans"/>
                <a:sym typeface="Open Sans"/>
              </a:rPr>
              <a:t>Size and speed</a:t>
            </a:r>
            <a:endParaRPr/>
          </a:p>
          <a:p>
            <a:pPr marL="0" marR="0" lvl="0" indent="0" algn="l" rtl="0">
              <a:lnSpc>
                <a:spcPct val="115000"/>
              </a:lnSpc>
              <a:spcBef>
                <a:spcPts val="200"/>
              </a:spcBef>
              <a:spcAft>
                <a:spcPts val="0"/>
              </a:spcAft>
              <a:buNone/>
            </a:pPr>
            <a:r>
              <a:rPr lang="en-US" sz="1150" b="0" i="0" u="none" strike="noStrike" cap="none">
                <a:solidFill>
                  <a:srgbClr val="1F1F1F"/>
                </a:solidFill>
                <a:latin typeface="Open Sans"/>
                <a:ea typeface="Open Sans"/>
                <a:cs typeface="Open Sans"/>
                <a:sym typeface="Open Sans"/>
              </a:rPr>
              <a:t>A 0.7 MB file is quick to push to GitHub and load in the app. The Random Forest is about 26 MB.</a:t>
            </a:r>
            <a:endParaRPr/>
          </a:p>
          <a:p>
            <a:pPr marL="0" marR="0" lvl="0" indent="0" algn="l" rtl="0">
              <a:lnSpc>
                <a:spcPct val="115000"/>
              </a:lnSpc>
              <a:spcBef>
                <a:spcPts val="500"/>
              </a:spcBef>
              <a:spcAft>
                <a:spcPts val="0"/>
              </a:spcAft>
              <a:buNone/>
            </a:pPr>
            <a:r>
              <a:rPr lang="en-US" sz="1150" b="1" i="0" u="none" strike="noStrike" cap="none">
                <a:solidFill>
                  <a:srgbClr val="2C5697"/>
                </a:solidFill>
                <a:latin typeface="Open Sans"/>
                <a:ea typeface="Open Sans"/>
                <a:cs typeface="Open Sans"/>
                <a:sym typeface="Open Sans"/>
              </a:rPr>
              <a:t>Plot twist</a:t>
            </a:r>
            <a:endParaRPr/>
          </a:p>
          <a:p>
            <a:pPr marL="0" marR="0" lvl="0" indent="0" algn="l" rtl="0">
              <a:lnSpc>
                <a:spcPct val="115000"/>
              </a:lnSpc>
              <a:spcBef>
                <a:spcPts val="200"/>
              </a:spcBef>
              <a:spcAft>
                <a:spcPts val="0"/>
              </a:spcAft>
              <a:buNone/>
            </a:pPr>
            <a:r>
              <a:rPr lang="en-US" sz="1150" b="0" i="0" u="none" strike="noStrike" cap="none">
                <a:solidFill>
                  <a:srgbClr val="1F1F1F"/>
                </a:solidFill>
                <a:latin typeface="Open Sans"/>
                <a:ea typeface="Open Sans"/>
                <a:cs typeface="Open Sans"/>
                <a:sym typeface="Open Sans"/>
              </a:rPr>
              <a:t>Random Forest has a slightly lower test MAE (S$25.1k vs S$26.2k). We still choose by CV, not by peeking at the test set.</a:t>
            </a:r>
            <a:endParaRPr/>
          </a:p>
          <a:p>
            <a:pPr marL="0" marR="0" lvl="0" indent="0" algn="l" rtl="0">
              <a:lnSpc>
                <a:spcPct val="115000"/>
              </a:lnSpc>
              <a:spcBef>
                <a:spcPts val="500"/>
              </a:spcBef>
              <a:spcAft>
                <a:spcPts val="0"/>
              </a:spcAft>
              <a:buNone/>
            </a:pPr>
            <a:r>
              <a:rPr lang="en-US" sz="1150" b="1" i="0" u="none" strike="noStrike" cap="none">
                <a:solidFill>
                  <a:srgbClr val="2C5697"/>
                </a:solidFill>
                <a:latin typeface="Open Sans"/>
                <a:ea typeface="Open Sans"/>
                <a:cs typeface="Open Sans"/>
                <a:sym typeface="Open Sans"/>
              </a:rPr>
              <a:t>When would you pick Linear Regression?</a:t>
            </a:r>
            <a:endParaRPr/>
          </a:p>
          <a:p>
            <a:pPr marL="0" marR="0" lvl="0" indent="0" algn="l" rtl="0">
              <a:lnSpc>
                <a:spcPct val="115000"/>
              </a:lnSpc>
              <a:spcBef>
                <a:spcPts val="200"/>
              </a:spcBef>
              <a:spcAft>
                <a:spcPts val="900"/>
              </a:spcAft>
              <a:buNone/>
            </a:pPr>
            <a:r>
              <a:rPr lang="en-US" sz="1150" b="0" i="0" u="none" strike="noStrike" cap="none">
                <a:solidFill>
                  <a:srgbClr val="1F1F1F"/>
                </a:solidFill>
                <a:latin typeface="Open Sans"/>
                <a:ea typeface="Open Sans"/>
                <a:cs typeface="Open Sans"/>
                <a:sym typeface="Open Sans"/>
              </a:rPr>
              <a:t>When you must explain every dollar to a stakeholder, or you have very little data.</a:t>
            </a:r>
            <a:endParaRPr/>
          </a:p>
        </p:txBody>
      </p:sp>
      <p:sp>
        <p:nvSpPr>
          <p:cNvPr id="281" name="Google Shape;281;p28"/>
          <p:cNvSpPr txBox="1"/>
          <p:nvPr/>
        </p:nvSpPr>
        <p:spPr>
          <a:xfrm>
            <a:off x="411475" y="1047375"/>
            <a:ext cx="6953100" cy="793800"/>
          </a:xfrm>
          <a:prstGeom prst="rect">
            <a:avLst/>
          </a:prstGeom>
          <a:solidFill>
            <a:srgbClr val="1B2A4A"/>
          </a:solidFill>
          <a:ln w="9525" cap="flat" cmpd="sng">
            <a:solidFill>
              <a:srgbClr val="4F81BD"/>
            </a:solidFill>
            <a:prstDash val="solid"/>
            <a:round/>
            <a:headEnd type="none" w="sm" len="sm"/>
            <a:tailEnd type="none" w="sm" len="sm"/>
          </a:ln>
        </p:spPr>
        <p:txBody>
          <a:bodyPr spcFirstLastPara="1" wrap="square" lIns="180000" tIns="180000" rIns="180000" bIns="180000"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US" sz="1300" b="0" i="1" u="none" strike="noStrike" cap="none">
                <a:solidFill>
                  <a:srgbClr val="FFFFFF"/>
                </a:solidFill>
                <a:latin typeface="Open Sans"/>
                <a:ea typeface="Open Sans"/>
                <a:cs typeface="Open Sans"/>
                <a:sym typeface="Open Sans"/>
              </a:rPr>
              <a:t>Rule: deploy the model with the lowest cross-validated RMSE. That is Gradient Boosting (S$36,121).</a:t>
            </a:r>
            <a:endParaRPr sz="1300" b="0" i="1" u="none" strike="noStrike" cap="none">
              <a:solidFill>
                <a:schemeClr val="lt1"/>
              </a:solidFill>
              <a:latin typeface="Open Sans"/>
              <a:ea typeface="Open Sans"/>
              <a:cs typeface="Open Sans"/>
              <a:sym typeface="Open Sans"/>
            </a:endParaRPr>
          </a:p>
        </p:txBody>
      </p:sp>
      <p:sp>
        <p:nvSpPr>
          <p:cNvPr id="282" name="Google Shape;282;p28"/>
          <p:cNvSpPr/>
          <p:nvPr/>
        </p:nvSpPr>
        <p:spPr>
          <a:xfrm>
            <a:off x="5532120" y="2057400"/>
            <a:ext cx="3154680" cy="1188720"/>
          </a:xfrm>
          <a:prstGeom prst="roundRect">
            <a:avLst>
              <a:gd name="adj" fmla="val 12000"/>
            </a:avLst>
          </a:prstGeom>
          <a:solidFill>
            <a:srgbClr val="E8EEF7"/>
          </a:solidFill>
          <a:ln>
            <a:noFill/>
          </a:ln>
        </p:spPr>
        <p:txBody>
          <a:bodyPr spcFirstLastPara="1" wrap="square" lIns="137150" tIns="137150" rIns="137150" bIns="137150" anchor="ctr" anchorCtr="0">
            <a:noAutofit/>
          </a:bodyPr>
          <a:lstStyle/>
          <a:p>
            <a:pPr marL="0" marR="0" lvl="0" indent="0" algn="ctr" rtl="0">
              <a:lnSpc>
                <a:spcPct val="100000"/>
              </a:lnSpc>
              <a:spcBef>
                <a:spcPts val="0"/>
              </a:spcBef>
              <a:spcAft>
                <a:spcPts val="0"/>
              </a:spcAft>
              <a:buNone/>
            </a:pPr>
            <a:r>
              <a:rPr lang="en-US" sz="3000" b="1" i="0" u="none" strike="noStrike" cap="none">
                <a:solidFill>
                  <a:srgbClr val="C8102E"/>
                </a:solidFill>
                <a:latin typeface="Open Sans"/>
                <a:ea typeface="Open Sans"/>
                <a:cs typeface="Open Sans"/>
                <a:sym typeface="Open Sans"/>
              </a:rPr>
              <a:t>35×</a:t>
            </a:r>
            <a:endParaRPr/>
          </a:p>
          <a:p>
            <a:pPr marL="0" marR="0" lvl="0" indent="0" algn="ctr" rtl="0">
              <a:lnSpc>
                <a:spcPct val="110000"/>
              </a:lnSpc>
              <a:spcBef>
                <a:spcPts val="400"/>
              </a:spcBef>
              <a:spcAft>
                <a:spcPts val="0"/>
              </a:spcAft>
              <a:buNone/>
            </a:pPr>
            <a:r>
              <a:rPr lang="en-US" sz="1100" b="0" i="0" u="none" strike="noStrike" cap="none">
                <a:solidFill>
                  <a:srgbClr val="5F6368"/>
                </a:solidFill>
                <a:latin typeface="Open Sans"/>
                <a:ea typeface="Open Sans"/>
                <a:cs typeface="Open Sans"/>
                <a:sym typeface="Open Sans"/>
              </a:rPr>
              <a:t>smaller file than the Random Forest (0.7 MB vs 26 MB)</a:t>
            </a:r>
            <a:endParaRPr/>
          </a:p>
        </p:txBody>
      </p:sp>
      <p:sp>
        <p:nvSpPr>
          <p:cNvPr id="283" name="Google Shape;283;p28"/>
          <p:cNvSpPr/>
          <p:nvPr/>
        </p:nvSpPr>
        <p:spPr>
          <a:xfrm>
            <a:off x="5532120" y="3429000"/>
            <a:ext cx="3154680" cy="1188720"/>
          </a:xfrm>
          <a:prstGeom prst="roundRect">
            <a:avLst>
              <a:gd name="adj" fmla="val 12000"/>
            </a:avLst>
          </a:prstGeom>
          <a:solidFill>
            <a:srgbClr val="E8EEF7"/>
          </a:solidFill>
          <a:ln>
            <a:noFill/>
          </a:ln>
        </p:spPr>
        <p:txBody>
          <a:bodyPr spcFirstLastPara="1" wrap="square" lIns="137150" tIns="137150" rIns="137150" bIns="137150" anchor="ctr" anchorCtr="0">
            <a:noAutofit/>
          </a:bodyPr>
          <a:lstStyle/>
          <a:p>
            <a:pPr marL="0" marR="0" lvl="0" indent="0" algn="ctr" rtl="0">
              <a:lnSpc>
                <a:spcPct val="100000"/>
              </a:lnSpc>
              <a:spcBef>
                <a:spcPts val="0"/>
              </a:spcBef>
              <a:spcAft>
                <a:spcPts val="0"/>
              </a:spcAft>
              <a:buNone/>
            </a:pPr>
            <a:r>
              <a:rPr lang="en-US" sz="3000" b="1" i="0" u="none" strike="noStrike" cap="none">
                <a:solidFill>
                  <a:srgbClr val="1B2A4A"/>
                </a:solidFill>
                <a:latin typeface="Open Sans"/>
                <a:ea typeface="Open Sans"/>
                <a:cs typeface="Open Sans"/>
                <a:sym typeface="Open Sans"/>
              </a:rPr>
              <a:t>± S$26k</a:t>
            </a:r>
            <a:endParaRPr/>
          </a:p>
          <a:p>
            <a:pPr marL="0" marR="0" lvl="0" indent="0" algn="ctr" rtl="0">
              <a:lnSpc>
                <a:spcPct val="110000"/>
              </a:lnSpc>
              <a:spcBef>
                <a:spcPts val="400"/>
              </a:spcBef>
              <a:spcAft>
                <a:spcPts val="0"/>
              </a:spcAft>
              <a:buNone/>
            </a:pPr>
            <a:r>
              <a:rPr lang="en-US" sz="1100" b="0" i="0" u="none" strike="noStrike" cap="none">
                <a:solidFill>
                  <a:srgbClr val="5F6368"/>
                </a:solidFill>
                <a:latin typeface="Open Sans"/>
                <a:ea typeface="Open Sans"/>
                <a:cs typeface="Open Sans"/>
                <a:sym typeface="Open Sans"/>
              </a:rPr>
              <a:t>typical error (test MAE), shown in the app as a price range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9"/>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290" name="Google Shape;290;p29"/>
          <p:cNvSpPr/>
          <p:nvPr/>
        </p:nvSpPr>
        <p:spPr>
          <a:xfrm>
            <a:off x="0" y="0"/>
            <a:ext cx="9143700" cy="5143500"/>
          </a:xfrm>
          <a:prstGeom prst="rect">
            <a:avLst/>
          </a:prstGeom>
          <a:solidFill>
            <a:srgbClr val="1B2A4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91" name="Google Shape;291;p29"/>
          <p:cNvSpPr txBox="1"/>
          <p:nvPr/>
        </p:nvSpPr>
        <p:spPr>
          <a:xfrm>
            <a:off x="258700" y="619100"/>
            <a:ext cx="8766900" cy="33141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1" i="0" u="none" strike="noStrike" cap="none">
                <a:solidFill>
                  <a:srgbClr val="C8102E"/>
                </a:solidFill>
                <a:latin typeface="Open Sans"/>
                <a:ea typeface="Open Sans"/>
                <a:cs typeface="Open Sans"/>
                <a:sym typeface="Open Sans"/>
              </a:rPr>
              <a:t>🟢  CODE-ALONG</a:t>
            </a:r>
            <a:endParaRPr sz="1400" b="1" i="0" u="none" strike="noStrike" cap="none">
              <a:solidFill>
                <a:srgbClr val="C8102E"/>
              </a:solidFill>
              <a:latin typeface="Open Sans"/>
              <a:ea typeface="Open Sans"/>
              <a:cs typeface="Open Sans"/>
              <a:sym typeface="Open Sans"/>
            </a:endParaRPr>
          </a:p>
          <a:p>
            <a:pPr marL="0" marR="0" lvl="0" indent="0" algn="l" rtl="0">
              <a:lnSpc>
                <a:spcPct val="120000"/>
              </a:lnSpc>
              <a:spcBef>
                <a:spcPts val="1200"/>
              </a:spcBef>
              <a:spcAft>
                <a:spcPts val="0"/>
              </a:spcAft>
              <a:buNone/>
            </a:pPr>
            <a:r>
              <a:rPr lang="en-US" sz="2400" b="0" i="0" u="none" strike="noStrike" cap="none">
                <a:solidFill>
                  <a:srgbClr val="FFFFFF"/>
                </a:solidFill>
                <a:latin typeface="Consolas"/>
                <a:ea typeface="Consolas"/>
                <a:cs typeface="Consolas"/>
                <a:sym typeface="Consolas"/>
              </a:rPr>
              <a:t>Open: </a:t>
            </a:r>
            <a:r>
              <a:rPr lang="en-US" sz="2400" b="1" i="0" u="none" strike="noStrike" cap="none">
                <a:solidFill>
                  <a:srgbClr val="00FF00"/>
                </a:solidFill>
                <a:latin typeface="Consolas"/>
                <a:ea typeface="Consolas"/>
                <a:cs typeface="Consolas"/>
                <a:sym typeface="Consolas"/>
              </a:rPr>
              <a:t>model.py</a:t>
            </a:r>
            <a:endParaRPr/>
          </a:p>
          <a:p>
            <a:pPr marL="0" marR="0" lvl="0" indent="0" algn="l" rtl="0">
              <a:lnSpc>
                <a:spcPct val="120000"/>
              </a:lnSpc>
              <a:spcBef>
                <a:spcPts val="1200"/>
              </a:spcBef>
              <a:spcAft>
                <a:spcPts val="0"/>
              </a:spcAft>
              <a:buNone/>
            </a:pPr>
            <a:r>
              <a:rPr lang="en-US" sz="1700" b="1" i="0" u="none" strike="noStrike" cap="none">
                <a:solidFill>
                  <a:srgbClr val="F4F5F7"/>
                </a:solidFill>
                <a:latin typeface="Open Sans"/>
                <a:ea typeface="Open Sans"/>
                <a:cs typeface="Open Sans"/>
                <a:sym typeface="Open Sans"/>
              </a:rPr>
              <a:t>What you'll do</a:t>
            </a:r>
            <a:endParaRPr/>
          </a:p>
          <a:p>
            <a:pPr marL="0" marR="0" lvl="0" indent="0" algn="l" rtl="0">
              <a:lnSpc>
                <a:spcPct val="120000"/>
              </a:lnSpc>
              <a:spcBef>
                <a:spcPts val="800"/>
              </a:spcBef>
              <a:spcAft>
                <a:spcPts val="0"/>
              </a:spcAft>
              <a:buNone/>
            </a:pPr>
            <a:r>
              <a:rPr lang="en-US" sz="1300" b="0" i="0" u="none" strike="noStrike" cap="none">
                <a:solidFill>
                  <a:srgbClr val="FFFFFF"/>
                </a:solidFill>
                <a:latin typeface="Open Sans"/>
                <a:ea typeface="Open Sans"/>
                <a:cs typeface="Open Sans"/>
                <a:sym typeface="Open Sans"/>
              </a:rPr>
              <a:t>1.  Load the data and add the storey feature (from hdb_features.py)</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2.  Train all 3 Pipelines and score each with 5-fold cross-validation</a:t>
            </a:r>
            <a:endParaRPr/>
          </a:p>
          <a:p>
            <a:pPr marL="0" marR="0" lvl="0" indent="0" algn="l" rtl="0">
              <a:lnSpc>
                <a:spcPct val="120000"/>
              </a:lnSpc>
              <a:spcBef>
                <a:spcPts val="700"/>
              </a:spcBef>
              <a:spcAft>
                <a:spcPts val="700"/>
              </a:spcAft>
              <a:buNone/>
            </a:pPr>
            <a:r>
              <a:rPr lang="en-US" sz="1300" b="0" i="0" u="none" strike="noStrike" cap="none">
                <a:solidFill>
                  <a:srgbClr val="FFFFFF"/>
                </a:solidFill>
                <a:latin typeface="Open Sans"/>
                <a:ea typeface="Open Sans"/>
                <a:cs typeface="Open Sans"/>
                <a:sym typeface="Open Sans"/>
              </a:rPr>
              <a:t>3.  Save the winner to models/hdb_price_model.joblib, plus models/model_card.json</a:t>
            </a:r>
            <a:endParaRPr/>
          </a:p>
        </p:txBody>
      </p:sp>
      <p:sp>
        <p:nvSpPr>
          <p:cNvPr id="292" name="Google Shape;292;p29"/>
          <p:cNvSpPr/>
          <p:nvPr/>
        </p:nvSpPr>
        <p:spPr>
          <a:xfrm>
            <a:off x="411475" y="3774200"/>
            <a:ext cx="8450700" cy="691500"/>
          </a:xfrm>
          <a:prstGeom prst="rect">
            <a:avLst/>
          </a:prstGeom>
          <a:solidFill>
            <a:schemeClr val="accent1"/>
          </a:solidFill>
          <a:ln w="9525" cap="flat" cmpd="sng">
            <a:solidFill>
              <a:srgbClr val="4F81B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93" name="Google Shape;293;p29"/>
          <p:cNvSpPr txBox="1"/>
          <p:nvPr/>
        </p:nvSpPr>
        <p:spPr>
          <a:xfrm>
            <a:off x="603100" y="3795950"/>
            <a:ext cx="80781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Open Sans"/>
                <a:ea typeface="Open Sans"/>
                <a:cs typeface="Open Sans"/>
                <a:sym typeface="Open Sans"/>
              </a:rPr>
              <a:t>requirements.txt pins exact versions (e.g. scikit-learn==1.9.1). The cloud must load the model with the same versions you trained with.</a:t>
            </a:r>
            <a:endParaRPr sz="1400" b="1" i="0" u="none" strike="noStrike" cap="non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0"/>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300" name="Google Shape;300;p30"/>
          <p:cNvSpPr/>
          <p:nvPr/>
        </p:nvSpPr>
        <p:spPr>
          <a:xfrm>
            <a:off x="0" y="0"/>
            <a:ext cx="9143700" cy="5143500"/>
          </a:xfrm>
          <a:prstGeom prst="rect">
            <a:avLst/>
          </a:prstGeom>
          <a:solidFill>
            <a:srgbClr val="1B2A4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301" name="Google Shape;301;p30"/>
          <p:cNvSpPr txBox="1"/>
          <p:nvPr/>
        </p:nvSpPr>
        <p:spPr>
          <a:xfrm>
            <a:off x="258700" y="619100"/>
            <a:ext cx="8766900" cy="31191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1" i="0" u="none" strike="noStrike" cap="none">
                <a:solidFill>
                  <a:srgbClr val="C8102E"/>
                </a:solidFill>
                <a:latin typeface="Open Sans"/>
                <a:ea typeface="Open Sans"/>
                <a:cs typeface="Open Sans"/>
                <a:sym typeface="Open Sans"/>
              </a:rPr>
              <a:t>🟢  CODE-ALONG</a:t>
            </a:r>
            <a:endParaRPr sz="1400" b="1" i="0" u="none" strike="noStrike" cap="none">
              <a:solidFill>
                <a:srgbClr val="C8102E"/>
              </a:solidFill>
              <a:latin typeface="Open Sans"/>
              <a:ea typeface="Open Sans"/>
              <a:cs typeface="Open Sans"/>
              <a:sym typeface="Open Sans"/>
            </a:endParaRPr>
          </a:p>
          <a:p>
            <a:pPr marL="0" marR="0" lvl="0" indent="0" algn="l" rtl="0">
              <a:lnSpc>
                <a:spcPct val="120000"/>
              </a:lnSpc>
              <a:spcBef>
                <a:spcPts val="1200"/>
              </a:spcBef>
              <a:spcAft>
                <a:spcPts val="0"/>
              </a:spcAft>
              <a:buNone/>
            </a:pPr>
            <a:r>
              <a:rPr lang="en-US" sz="2400" b="0" i="0" u="none" strike="noStrike" cap="none">
                <a:solidFill>
                  <a:srgbClr val="FFFFFF"/>
                </a:solidFill>
                <a:latin typeface="Consolas"/>
                <a:ea typeface="Consolas"/>
                <a:cs typeface="Consolas"/>
                <a:sym typeface="Consolas"/>
              </a:rPr>
              <a:t>Open: </a:t>
            </a:r>
            <a:r>
              <a:rPr lang="en-US" sz="2400" b="1" i="0" u="none" strike="noStrike" cap="none">
                <a:solidFill>
                  <a:srgbClr val="00FF00"/>
                </a:solidFill>
                <a:latin typeface="Consolas"/>
                <a:ea typeface="Consolas"/>
                <a:cs typeface="Consolas"/>
                <a:sym typeface="Consolas"/>
              </a:rPr>
              <a:t>app.py</a:t>
            </a:r>
            <a:endParaRPr/>
          </a:p>
          <a:p>
            <a:pPr marL="0" marR="0" lvl="0" indent="0" algn="l" rtl="0">
              <a:lnSpc>
                <a:spcPct val="120000"/>
              </a:lnSpc>
              <a:spcBef>
                <a:spcPts val="1200"/>
              </a:spcBef>
              <a:spcAft>
                <a:spcPts val="0"/>
              </a:spcAft>
              <a:buNone/>
            </a:pPr>
            <a:r>
              <a:rPr lang="en-US" sz="1700" b="1" i="0" u="none" strike="noStrike" cap="none">
                <a:solidFill>
                  <a:srgbClr val="F4F5F7"/>
                </a:solidFill>
                <a:latin typeface="Open Sans"/>
                <a:ea typeface="Open Sans"/>
                <a:cs typeface="Open Sans"/>
                <a:sym typeface="Open Sans"/>
              </a:rPr>
              <a:t>What you'll do</a:t>
            </a:r>
            <a:endParaRPr/>
          </a:p>
          <a:p>
            <a:pPr marL="0" marR="0" lvl="0" indent="0" algn="l" rtl="0">
              <a:lnSpc>
                <a:spcPct val="120000"/>
              </a:lnSpc>
              <a:spcBef>
                <a:spcPts val="800"/>
              </a:spcBef>
              <a:spcAft>
                <a:spcPts val="0"/>
              </a:spcAft>
              <a:buNone/>
            </a:pPr>
            <a:r>
              <a:rPr lang="en-US" sz="1300" b="0" i="0" u="none" strike="noStrike" cap="none">
                <a:solidFill>
                  <a:srgbClr val="FFFFFF"/>
                </a:solidFill>
                <a:latin typeface="Open Sans"/>
                <a:ea typeface="Open Sans"/>
                <a:cs typeface="Open Sans"/>
                <a:sym typeface="Open Sans"/>
              </a:rPr>
              <a:t>1.  Load the saved model and model_card.json (cached with st.cache_resource)</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2.  Build the form: town and flat type dropdowns; sliders for size, storey and lease year</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3.  Make a one-row DataFrame with the same columns as training, then call model.predict</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4.  Show the price with a likely range, plus a Model comparison tab</a:t>
            </a:r>
            <a:endParaRPr/>
          </a:p>
          <a:p>
            <a:pPr marL="0" marR="0" lvl="0" indent="0" algn="l" rtl="0">
              <a:lnSpc>
                <a:spcPct val="120000"/>
              </a:lnSpc>
              <a:spcBef>
                <a:spcPts val="1500"/>
              </a:spcBef>
              <a:spcAft>
                <a:spcPts val="0"/>
              </a:spcAft>
              <a:buNone/>
            </a:pPr>
            <a:r>
              <a:rPr lang="en-US" sz="1400" b="1" i="0" u="none" strike="noStrike" cap="none">
                <a:solidFill>
                  <a:srgbClr val="F4F5F7"/>
                </a:solidFill>
                <a:latin typeface="Open Sans"/>
                <a:ea typeface="Open Sans"/>
                <a:cs typeface="Open Sans"/>
                <a:sym typeface="Open Sans"/>
              </a:rPr>
              <a:t>Run:  </a:t>
            </a:r>
            <a:r>
              <a:rPr lang="en-US" sz="1600" b="1" i="0" u="none" strike="noStrike" cap="none">
                <a:solidFill>
                  <a:srgbClr val="00FF00"/>
                </a:solidFill>
                <a:latin typeface="Consolas"/>
                <a:ea typeface="Consolas"/>
                <a:cs typeface="Consolas"/>
                <a:sym typeface="Consolas"/>
              </a:rPr>
              <a:t>streamlit run app.py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1"/>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308" name="Google Shape;308;p31"/>
          <p:cNvSpPr/>
          <p:nvPr/>
        </p:nvSpPr>
        <p:spPr>
          <a:xfrm>
            <a:off x="0" y="0"/>
            <a:ext cx="9143700" cy="5143500"/>
          </a:xfrm>
          <a:prstGeom prst="rect">
            <a:avLst/>
          </a:prstGeom>
          <a:solidFill>
            <a:srgbClr val="1B2A4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309" name="Google Shape;309;p31"/>
          <p:cNvSpPr txBox="1"/>
          <p:nvPr/>
        </p:nvSpPr>
        <p:spPr>
          <a:xfrm>
            <a:off x="258700" y="619100"/>
            <a:ext cx="8766900" cy="37557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1" i="0" u="none" strike="noStrike" cap="none">
                <a:solidFill>
                  <a:srgbClr val="C8102E"/>
                </a:solidFill>
                <a:latin typeface="Open Sans"/>
                <a:ea typeface="Open Sans"/>
                <a:cs typeface="Open Sans"/>
                <a:sym typeface="Open Sans"/>
              </a:rPr>
              <a:t>🟢  CODE-ALONG</a:t>
            </a:r>
            <a:endParaRPr sz="1400" b="1" i="0" u="none" strike="noStrike" cap="none">
              <a:solidFill>
                <a:srgbClr val="C8102E"/>
              </a:solidFill>
              <a:latin typeface="Open Sans"/>
              <a:ea typeface="Open Sans"/>
              <a:cs typeface="Open Sans"/>
              <a:sym typeface="Open Sans"/>
            </a:endParaRPr>
          </a:p>
          <a:p>
            <a:pPr marL="0" marR="0" lvl="0" indent="0" algn="l" rtl="0">
              <a:lnSpc>
                <a:spcPct val="120000"/>
              </a:lnSpc>
              <a:spcBef>
                <a:spcPts val="1200"/>
              </a:spcBef>
              <a:spcAft>
                <a:spcPts val="0"/>
              </a:spcAft>
              <a:buNone/>
            </a:pPr>
            <a:r>
              <a:rPr lang="en-US" sz="2400" b="0" i="0" u="none" strike="noStrike" cap="none">
                <a:solidFill>
                  <a:srgbClr val="FFFFFF"/>
                </a:solidFill>
                <a:latin typeface="Consolas"/>
                <a:ea typeface="Consolas"/>
                <a:cs typeface="Consolas"/>
                <a:sym typeface="Consolas"/>
              </a:rPr>
              <a:t>Deploy the app</a:t>
            </a:r>
            <a:endParaRPr/>
          </a:p>
          <a:p>
            <a:pPr marL="0" marR="0" lvl="0" indent="0" algn="l" rtl="0">
              <a:lnSpc>
                <a:spcPct val="120000"/>
              </a:lnSpc>
              <a:spcBef>
                <a:spcPts val="1200"/>
              </a:spcBef>
              <a:spcAft>
                <a:spcPts val="0"/>
              </a:spcAft>
              <a:buNone/>
            </a:pPr>
            <a:r>
              <a:rPr lang="en-US" sz="1700" b="1" i="0" u="none" strike="noStrike" cap="none">
                <a:solidFill>
                  <a:srgbClr val="F4F5F7"/>
                </a:solidFill>
                <a:latin typeface="Open Sans"/>
                <a:ea typeface="Open Sans"/>
                <a:cs typeface="Open Sans"/>
                <a:sym typeface="Open Sans"/>
              </a:rPr>
              <a:t>What you'll do</a:t>
            </a:r>
            <a:endParaRPr/>
          </a:p>
          <a:p>
            <a:pPr marL="0" marR="0" lvl="0" indent="0" algn="l" rtl="0">
              <a:lnSpc>
                <a:spcPct val="120000"/>
              </a:lnSpc>
              <a:spcBef>
                <a:spcPts val="800"/>
              </a:spcBef>
              <a:spcAft>
                <a:spcPts val="0"/>
              </a:spcAft>
              <a:buNone/>
            </a:pPr>
            <a:r>
              <a:rPr lang="en-US" sz="1300" b="0" i="0" u="none" strike="noStrike" cap="none">
                <a:solidFill>
                  <a:srgbClr val="FFFFFF"/>
                </a:solidFill>
                <a:latin typeface="Open Sans"/>
                <a:ea typeface="Open Sans"/>
                <a:cs typeface="Open Sans"/>
                <a:sym typeface="Open Sans"/>
              </a:rPr>
              <a:t>1.  Commit and push your code </a:t>
            </a:r>
            <a:r>
              <a:rPr lang="en-US" sz="1300" b="1" i="0" u="none" strike="noStrike" cap="none">
                <a:solidFill>
                  <a:srgbClr val="FFFFFF"/>
                </a:solidFill>
                <a:latin typeface="Open Sans"/>
                <a:ea typeface="Open Sans"/>
                <a:cs typeface="Open Sans"/>
                <a:sym typeface="Open Sans"/>
              </a:rPr>
              <a:t>and the models/ folder</a:t>
            </a:r>
            <a:r>
              <a:rPr lang="en-US" sz="1300" b="0" i="0" u="none" strike="noStrike" cap="none">
                <a:solidFill>
                  <a:srgbClr val="FFFFFF"/>
                </a:solidFill>
                <a:latin typeface="Open Sans"/>
                <a:ea typeface="Open Sans"/>
                <a:cs typeface="Open Sans"/>
                <a:sym typeface="Open Sans"/>
              </a:rPr>
              <a:t> to your GitHub fork</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2.  Log in at </a:t>
            </a:r>
            <a:r>
              <a:rPr lang="en-US" sz="1300" b="1" i="0" u="none" strike="noStrike" cap="none">
                <a:solidFill>
                  <a:srgbClr val="00FF00"/>
                </a:solidFill>
                <a:latin typeface="Open Sans"/>
                <a:ea typeface="Open Sans"/>
                <a:cs typeface="Open Sans"/>
                <a:sym typeface="Open Sans"/>
              </a:rPr>
              <a:t>share.streamlit.io</a:t>
            </a:r>
            <a:r>
              <a:rPr lang="en-US" sz="1300" b="0" i="0" u="none" strike="noStrike" cap="none">
                <a:solidFill>
                  <a:srgbClr val="FFFFFF"/>
                </a:solidFill>
                <a:latin typeface="Open Sans"/>
                <a:ea typeface="Open Sans"/>
                <a:cs typeface="Open Sans"/>
                <a:sym typeface="Open Sans"/>
              </a:rPr>
              <a:t> with GitHub, then click Create app</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3.  Repository: your fork  ·  Branch: main  ·  Main file path: app.py</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4.  Advanced settings: Python 3.12 (same as you trained with), then Deploy</a:t>
            </a:r>
            <a:endParaRPr/>
          </a:p>
          <a:p>
            <a:pPr marL="0" marR="0" lvl="0" indent="0" algn="l" rtl="0">
              <a:lnSpc>
                <a:spcPct val="120000"/>
              </a:lnSpc>
              <a:spcBef>
                <a:spcPts val="700"/>
              </a:spcBef>
              <a:spcAft>
                <a:spcPts val="700"/>
              </a:spcAft>
              <a:buNone/>
            </a:pPr>
            <a:r>
              <a:rPr lang="en-US" sz="1300" b="0" i="0" u="none" strike="noStrike" cap="none">
                <a:solidFill>
                  <a:srgbClr val="FFFFFF"/>
                </a:solidFill>
                <a:latin typeface="Open Sans"/>
                <a:ea typeface="Open Sans"/>
                <a:cs typeface="Open Sans"/>
                <a:sym typeface="Open Sans"/>
              </a:rPr>
              <a:t>5.  Share your unique URL. Full steps in </a:t>
            </a:r>
            <a:r>
              <a:rPr lang="en-US" sz="1300" b="1" i="0" u="none" strike="noStrike" cap="none">
                <a:solidFill>
                  <a:srgbClr val="00FF00"/>
                </a:solidFill>
                <a:latin typeface="Open Sans"/>
                <a:ea typeface="Open Sans"/>
                <a:cs typeface="Open Sans"/>
                <a:sym typeface="Open Sans"/>
              </a:rPr>
              <a:t>setup.md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2"/>
          <p:cNvSpPr/>
          <p:nvPr/>
        </p:nvSpPr>
        <p:spPr>
          <a:xfrm>
            <a:off x="0" y="5088636"/>
            <a:ext cx="9143700" cy="54900"/>
          </a:xfrm>
          <a:prstGeom prst="rect">
            <a:avLst/>
          </a:prstGeom>
          <a:solidFill>
            <a:srgbClr val="C8102E"/>
          </a:solidFill>
          <a:ln w="9525" cap="flat" cmpd="sng">
            <a:solidFill>
              <a:srgbClr val="C8102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Open Sans"/>
              <a:ea typeface="Open Sans"/>
              <a:cs typeface="Open Sans"/>
              <a:sym typeface="Open Sans"/>
            </a:endParaRPr>
          </a:p>
        </p:txBody>
      </p:sp>
      <p:sp>
        <p:nvSpPr>
          <p:cNvPr id="315" name="Google Shape;315;p32"/>
          <p:cNvSpPr/>
          <p:nvPr/>
        </p:nvSpPr>
        <p:spPr>
          <a:xfrm>
            <a:off x="0" y="0"/>
            <a:ext cx="9143700" cy="5143500"/>
          </a:xfrm>
          <a:prstGeom prst="rect">
            <a:avLst/>
          </a:prstGeom>
          <a:solidFill>
            <a:srgbClr val="1B2A4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316" name="Google Shape;316;p32"/>
          <p:cNvSpPr txBox="1"/>
          <p:nvPr/>
        </p:nvSpPr>
        <p:spPr>
          <a:xfrm>
            <a:off x="258700" y="619100"/>
            <a:ext cx="8766900" cy="31191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1" i="0" u="none" strike="noStrike" cap="none">
                <a:solidFill>
                  <a:srgbClr val="C8102E"/>
                </a:solidFill>
                <a:latin typeface="Open Sans"/>
                <a:ea typeface="Open Sans"/>
                <a:cs typeface="Open Sans"/>
                <a:sym typeface="Open Sans"/>
              </a:rPr>
              <a:t>🧪  YOUR TURN</a:t>
            </a:r>
            <a:endParaRPr sz="1400" b="1" i="0" u="none" strike="noStrike" cap="none">
              <a:solidFill>
                <a:srgbClr val="C8102E"/>
              </a:solidFill>
              <a:latin typeface="Open Sans"/>
              <a:ea typeface="Open Sans"/>
              <a:cs typeface="Open Sans"/>
              <a:sym typeface="Open Sans"/>
            </a:endParaRPr>
          </a:p>
          <a:p>
            <a:pPr marL="0" marR="0" lvl="0" indent="0" algn="l" rtl="0">
              <a:lnSpc>
                <a:spcPct val="120000"/>
              </a:lnSpc>
              <a:spcBef>
                <a:spcPts val="1200"/>
              </a:spcBef>
              <a:spcAft>
                <a:spcPts val="0"/>
              </a:spcAft>
              <a:buNone/>
            </a:pPr>
            <a:r>
              <a:rPr lang="en-US" sz="2400" b="0" i="0" u="none" strike="noStrike" cap="none">
                <a:solidFill>
                  <a:srgbClr val="FFFFFF"/>
                </a:solidFill>
                <a:latin typeface="Consolas"/>
                <a:ea typeface="Consolas"/>
                <a:cs typeface="Consolas"/>
                <a:sym typeface="Consolas"/>
              </a:rPr>
              <a:t>Exercises</a:t>
            </a:r>
            <a:endParaRPr/>
          </a:p>
          <a:p>
            <a:pPr marL="0" marR="0" lvl="0" indent="0" algn="l" rtl="0">
              <a:lnSpc>
                <a:spcPct val="120000"/>
              </a:lnSpc>
              <a:spcBef>
                <a:spcPts val="1200"/>
              </a:spcBef>
              <a:spcAft>
                <a:spcPts val="0"/>
              </a:spcAft>
              <a:buNone/>
            </a:pPr>
            <a:r>
              <a:rPr lang="en-US" sz="1700" b="1" i="0" u="none" strike="noStrike" cap="none">
                <a:solidFill>
                  <a:srgbClr val="F4F5F7"/>
                </a:solidFill>
                <a:latin typeface="Open Sans"/>
                <a:ea typeface="Open Sans"/>
                <a:cs typeface="Open Sans"/>
                <a:sym typeface="Open Sans"/>
              </a:rPr>
              <a:t>What you'll do</a:t>
            </a:r>
            <a:endParaRPr/>
          </a:p>
          <a:p>
            <a:pPr marL="0" marR="0" lvl="0" indent="0" algn="l" rtl="0">
              <a:lnSpc>
                <a:spcPct val="120000"/>
              </a:lnSpc>
              <a:spcBef>
                <a:spcPts val="800"/>
              </a:spcBef>
              <a:spcAft>
                <a:spcPts val="0"/>
              </a:spcAft>
              <a:buNone/>
            </a:pPr>
            <a:r>
              <a:rPr lang="en-US" sz="1300" b="0" i="0" u="none" strike="noStrike" cap="none">
                <a:solidFill>
                  <a:srgbClr val="FFFFFF"/>
                </a:solidFill>
                <a:latin typeface="Open Sans"/>
                <a:ea typeface="Open Sans"/>
                <a:cs typeface="Open Sans"/>
                <a:sym typeface="Open Sans"/>
              </a:rPr>
              <a:t>1.  Add flat_model as a feature. Does CV RMSE improve? What must change in app.py?</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2.  Shrink the Random Forest (n_estimators=50, min_samples_leaf=5). Accuracy vs file size?</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3.  Gradient Boosting with learning_rate=0.05 and n_estimators=1000: worth the extra time?</a:t>
            </a:r>
            <a:endParaRPr/>
          </a:p>
          <a:p>
            <a:pPr marL="0" marR="0" lvl="0" indent="0" algn="l" rtl="0">
              <a:lnSpc>
                <a:spcPct val="120000"/>
              </a:lnSpc>
              <a:spcBef>
                <a:spcPts val="700"/>
              </a:spcBef>
              <a:spcAft>
                <a:spcPts val="0"/>
              </a:spcAft>
              <a:buNone/>
            </a:pPr>
            <a:r>
              <a:rPr lang="en-US" sz="1300" b="0" i="0" u="none" strike="noStrike" cap="none">
                <a:solidFill>
                  <a:srgbClr val="FFFFFF"/>
                </a:solidFill>
                <a:latin typeface="Open Sans"/>
                <a:ea typeface="Open Sans"/>
                <a:cs typeface="Open Sans"/>
                <a:sym typeface="Open Sans"/>
              </a:rPr>
              <a:t>4.  Retrain on the latest data from data.gov.sg. How much have prices changed since 2019?</a:t>
            </a:r>
            <a:endParaRPr/>
          </a:p>
          <a:p>
            <a:pPr marL="0" marR="0" lvl="0" indent="0" algn="l" rtl="0">
              <a:lnSpc>
                <a:spcPct val="120000"/>
              </a:lnSpc>
              <a:spcBef>
                <a:spcPts val="700"/>
              </a:spcBef>
              <a:spcAft>
                <a:spcPts val="700"/>
              </a:spcAft>
              <a:buNone/>
            </a:pPr>
            <a:r>
              <a:rPr lang="en-US" sz="1300" b="0" i="0" u="none" strike="noStrike" cap="none">
                <a:solidFill>
                  <a:srgbClr val="FFFFFF"/>
                </a:solidFill>
                <a:latin typeface="Open Sans"/>
                <a:ea typeface="Open Sans"/>
                <a:cs typeface="Open Sans"/>
                <a:sym typeface="Open Sans"/>
              </a:rPr>
              <a:t>5.  Explain your app's accuracy to a non-technical user in two sentences.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3"/>
          <p:cNvSpPr txBox="1">
            <a:spLocks noGrp="1"/>
          </p:cNvSpPr>
          <p:nvPr>
            <p:ph type="title"/>
          </p:nvPr>
        </p:nvSpPr>
        <p:spPr>
          <a:xfrm>
            <a:off x="376550" y="147875"/>
            <a:ext cx="8310000" cy="75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US"/>
              <a:t>Questions in Discord</a:t>
            </a:r>
            <a:endParaRPr/>
          </a:p>
        </p:txBody>
      </p:sp>
      <p:sp>
        <p:nvSpPr>
          <p:cNvPr id="322" name="Google Shape;322;p33"/>
          <p:cNvSpPr txBox="1">
            <a:spLocks noGrp="1"/>
          </p:cNvSpPr>
          <p:nvPr>
            <p:ph type="body" idx="1"/>
          </p:nvPr>
        </p:nvSpPr>
        <p:spPr>
          <a:xfrm>
            <a:off x="376850" y="987925"/>
            <a:ext cx="8310000" cy="3607500"/>
          </a:xfrm>
          <a:prstGeom prst="rect">
            <a:avLst/>
          </a:prstGeom>
        </p:spPr>
        <p:txBody>
          <a:bodyPr spcFirstLastPara="1" wrap="square" lIns="68575" tIns="34275" rIns="68575" bIns="34275" anchor="t" anchorCtr="0">
            <a:normAutofit/>
          </a:bodyPr>
          <a:lstStyle/>
          <a:p>
            <a:pPr marL="0" lvl="0" indent="0" algn="l" rtl="0">
              <a:spcBef>
                <a:spcPts val="0"/>
              </a:spcBef>
              <a:spcAft>
                <a:spcPts val="0"/>
              </a:spcAft>
              <a:buNone/>
            </a:pPr>
            <a:r>
              <a:rPr lang="en-US" sz="1600">
                <a:latin typeface="Arial"/>
                <a:ea typeface="Arial"/>
                <a:cs typeface="Arial"/>
                <a:sym typeface="Arial"/>
              </a:rPr>
              <a:t>Hi, I noticed that the lesson examples always select the best params based on the best score of GridSearchCV and RandomisedSearchCV. Is it always safe to select the params based on the best score? What if the best score is overfit?</a:t>
            </a:r>
            <a:r>
              <a:rPr lang="en-US" sz="1500">
                <a:latin typeface="Arial"/>
                <a:ea typeface="Arial"/>
                <a:cs typeface="Arial"/>
                <a:sym typeface="Arial"/>
              </a:rPr>
              <a:t> (Chean Wei)</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34"/>
          <p:cNvPicPr preferRelativeResize="0"/>
          <p:nvPr/>
        </p:nvPicPr>
        <p:blipFill>
          <a:blip r:embed="rId3">
            <a:alphaModFix/>
          </a:blip>
          <a:stretch>
            <a:fillRect/>
          </a:stretch>
        </p:blipFill>
        <p:spPr>
          <a:xfrm>
            <a:off x="1426550" y="256150"/>
            <a:ext cx="6098924" cy="4409700"/>
          </a:xfrm>
          <a:prstGeom prst="rect">
            <a:avLst/>
          </a:prstGeom>
          <a:noFill/>
          <a:ln>
            <a:noFill/>
          </a:ln>
        </p:spPr>
      </p:pic>
      <p:sp>
        <p:nvSpPr>
          <p:cNvPr id="328" name="Google Shape;328;p34"/>
          <p:cNvSpPr/>
          <p:nvPr/>
        </p:nvSpPr>
        <p:spPr>
          <a:xfrm>
            <a:off x="6022975" y="691550"/>
            <a:ext cx="7200" cy="3678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5"/>
          <p:cNvSpPr txBox="1">
            <a:spLocks noGrp="1"/>
          </p:cNvSpPr>
          <p:nvPr>
            <p:ph type="title"/>
          </p:nvPr>
        </p:nvSpPr>
        <p:spPr>
          <a:xfrm>
            <a:off x="376550" y="147875"/>
            <a:ext cx="8310000" cy="75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endParaRPr/>
          </a:p>
        </p:txBody>
      </p:sp>
      <p:sp>
        <p:nvSpPr>
          <p:cNvPr id="334" name="Google Shape;334;p35"/>
          <p:cNvSpPr txBox="1">
            <a:spLocks noGrp="1"/>
          </p:cNvSpPr>
          <p:nvPr>
            <p:ph type="body" idx="1"/>
          </p:nvPr>
        </p:nvSpPr>
        <p:spPr>
          <a:xfrm>
            <a:off x="376850" y="987925"/>
            <a:ext cx="8310000" cy="3607500"/>
          </a:xfrm>
          <a:prstGeom prst="rect">
            <a:avLst/>
          </a:prstGeom>
        </p:spPr>
        <p:txBody>
          <a:bodyPr spcFirstLastPara="1" wrap="square" lIns="68575" tIns="34275" rIns="68575" bIns="34275" anchor="t" anchorCtr="0">
            <a:normAutofit/>
          </a:bodyPr>
          <a:lstStyle/>
          <a:p>
            <a:pPr marL="0" lvl="0" indent="0" algn="l" rtl="0">
              <a:spcBef>
                <a:spcPts val="0"/>
              </a:spcBef>
              <a:spcAft>
                <a:spcPts val="0"/>
              </a:spcAft>
              <a:buClr>
                <a:schemeClr val="dk1"/>
              </a:buClr>
              <a:buSzPts val="1100"/>
              <a:buFont typeface="Arial"/>
              <a:buNone/>
            </a:pPr>
            <a:r>
              <a:rPr lang="en-US" sz="1600">
                <a:latin typeface="Arial"/>
                <a:ea typeface="Arial"/>
                <a:cs typeface="Arial"/>
                <a:sym typeface="Arial"/>
              </a:rPr>
              <a:t>Hi, Bagging and Boosting are two different ensemble methods.</a:t>
            </a:r>
            <a:endParaRPr sz="1600">
              <a:latin typeface="Arial"/>
              <a:ea typeface="Arial"/>
              <a:cs typeface="Arial"/>
              <a:sym typeface="Arial"/>
            </a:endParaRPr>
          </a:p>
          <a:p>
            <a:pPr marL="457200" lvl="0" indent="-330200" algn="l" rtl="0">
              <a:spcBef>
                <a:spcPts val="300"/>
              </a:spcBef>
              <a:spcAft>
                <a:spcPts val="0"/>
              </a:spcAft>
              <a:buSzPts val="1600"/>
              <a:buFont typeface="Arial"/>
              <a:buAutoNum type="arabicPeriod"/>
            </a:pPr>
            <a:r>
              <a:rPr lang="en-US" sz="1600">
                <a:latin typeface="Arial"/>
                <a:ea typeface="Arial"/>
                <a:cs typeface="Arial"/>
                <a:sym typeface="Arial"/>
              </a:rPr>
              <a:t>Could I understand stacking as another branch under ensemble learning and how it’s work in prediction?</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US" sz="1600">
                <a:latin typeface="Arial"/>
                <a:ea typeface="Arial"/>
                <a:cs typeface="Arial"/>
                <a:sym typeface="Arial"/>
              </a:rPr>
              <a:t>Would stacking therefore be considered a form of hybrid machine learning?</a:t>
            </a:r>
            <a:endParaRPr sz="1600">
              <a:latin typeface="Arial"/>
              <a:ea typeface="Arial"/>
              <a:cs typeface="Arial"/>
              <a:sym typeface="Arial"/>
            </a:endParaRPr>
          </a:p>
          <a:p>
            <a:pPr marL="0" lvl="0" indent="0" algn="l" rtl="0">
              <a:spcBef>
                <a:spcPts val="300"/>
              </a:spcBef>
              <a:spcAft>
                <a:spcPts val="0"/>
              </a:spcAft>
              <a:buNone/>
            </a:pPr>
            <a:r>
              <a:rPr lang="en-US" sz="1600"/>
              <a:t>(Yoke)</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39" name="Google Shape;339;p36"/>
          <p:cNvPicPr preferRelativeResize="0"/>
          <p:nvPr/>
        </p:nvPicPr>
        <p:blipFill>
          <a:blip r:embed="rId3">
            <a:alphaModFix/>
          </a:blip>
          <a:stretch>
            <a:fillRect/>
          </a:stretch>
        </p:blipFill>
        <p:spPr>
          <a:xfrm>
            <a:off x="762000" y="501975"/>
            <a:ext cx="7620000" cy="3810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376550" y="147875"/>
            <a:ext cx="8310000" cy="75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endParaRPr/>
          </a:p>
        </p:txBody>
      </p:sp>
      <p:sp>
        <p:nvSpPr>
          <p:cNvPr id="345" name="Google Shape;345;p37"/>
          <p:cNvSpPr txBox="1">
            <a:spLocks noGrp="1"/>
          </p:cNvSpPr>
          <p:nvPr>
            <p:ph type="body" idx="1"/>
          </p:nvPr>
        </p:nvSpPr>
        <p:spPr>
          <a:xfrm>
            <a:off x="376850" y="987925"/>
            <a:ext cx="8310000" cy="3607500"/>
          </a:xfrm>
          <a:prstGeom prst="rect">
            <a:avLst/>
          </a:prstGeom>
        </p:spPr>
        <p:txBody>
          <a:bodyPr spcFirstLastPara="1" wrap="square" lIns="68575" tIns="34275" rIns="68575" bIns="34275" anchor="t" anchorCtr="0">
            <a:normAutofit/>
          </a:bodyPr>
          <a:lstStyle/>
          <a:p>
            <a:pPr marL="0" lvl="0" indent="0" algn="l" rtl="0">
              <a:spcBef>
                <a:spcPts val="300"/>
              </a:spcBef>
              <a:spcAft>
                <a:spcPts val="0"/>
              </a:spcAft>
              <a:buNone/>
            </a:pPr>
            <a:r>
              <a:rPr lang="en-US" sz="1600">
                <a:latin typeface="Arial"/>
                <a:ea typeface="Arial"/>
                <a:cs typeface="Arial"/>
                <a:sym typeface="Arial"/>
              </a:rPr>
              <a:t>3. If combine model such as random forest , xgboost etc using stacking, is the main objective to see whether their combined strength can outperform the best standalone model on unseen data? If stacking model performs worse than the best standalone model, is it acceptable to conclude that the standalone model more suitable for that dataset? Thanks</a:t>
            </a:r>
            <a:endParaRPr sz="1600">
              <a:latin typeface="Arial"/>
              <a:ea typeface="Arial"/>
              <a:cs typeface="Arial"/>
              <a:sym typeface="Arial"/>
            </a:endParaRPr>
          </a:p>
          <a:p>
            <a:pPr marL="0" lvl="0" indent="0" algn="l" rtl="0">
              <a:spcBef>
                <a:spcPts val="30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8"/>
          <p:cNvSpPr txBox="1">
            <a:spLocks noGrp="1"/>
          </p:cNvSpPr>
          <p:nvPr>
            <p:ph type="title"/>
          </p:nvPr>
        </p:nvSpPr>
        <p:spPr>
          <a:xfrm>
            <a:off x="376550" y="147875"/>
            <a:ext cx="8310000" cy="75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endParaRPr/>
          </a:p>
        </p:txBody>
      </p:sp>
      <p:sp>
        <p:nvSpPr>
          <p:cNvPr id="351" name="Google Shape;351;p38"/>
          <p:cNvSpPr txBox="1">
            <a:spLocks noGrp="1"/>
          </p:cNvSpPr>
          <p:nvPr>
            <p:ph type="body" idx="1"/>
          </p:nvPr>
        </p:nvSpPr>
        <p:spPr>
          <a:xfrm>
            <a:off x="376850" y="987925"/>
            <a:ext cx="8310000" cy="3607500"/>
          </a:xfrm>
          <a:prstGeom prst="rect">
            <a:avLst/>
          </a:prstGeom>
        </p:spPr>
        <p:txBody>
          <a:bodyPr spcFirstLastPara="1" wrap="square" lIns="68575" tIns="34275" rIns="68575" bIns="34275" anchor="t" anchorCtr="0">
            <a:normAutofit/>
          </a:bodyPr>
          <a:lstStyle/>
          <a:p>
            <a:pPr marL="457200" lvl="0" indent="-228600" algn="l" rtl="0">
              <a:spcBef>
                <a:spcPts val="1300"/>
              </a:spcBef>
              <a:spcAft>
                <a:spcPts val="0"/>
              </a:spcAft>
              <a:buSzPts val="1600"/>
              <a:buFont typeface="Arial"/>
              <a:buNone/>
            </a:pPr>
            <a:r>
              <a:rPr lang="en-US" sz="1600">
                <a:latin typeface="Arial"/>
                <a:ea typeface="Arial"/>
                <a:cs typeface="Arial"/>
                <a:sym typeface="Arial"/>
              </a:rPr>
              <a:t>I saw in lesson 3.3 that slide 18 mentioned about regularization for Logistic regression. A bit was mentioned on Thursday lesson. Will this be covered more on Sat so that we know how to use it to resolve overfitting? (Boon Wee)</a:t>
            </a:r>
            <a:endParaRPr sz="16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9"/>
          <p:cNvSpPr txBox="1">
            <a:spLocks noGrp="1"/>
          </p:cNvSpPr>
          <p:nvPr>
            <p:ph type="title"/>
          </p:nvPr>
        </p:nvSpPr>
        <p:spPr>
          <a:xfrm>
            <a:off x="376550" y="147875"/>
            <a:ext cx="8310000" cy="75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endParaRPr/>
          </a:p>
        </p:txBody>
      </p:sp>
      <p:sp>
        <p:nvSpPr>
          <p:cNvPr id="357" name="Google Shape;357;p39"/>
          <p:cNvSpPr txBox="1">
            <a:spLocks noGrp="1"/>
          </p:cNvSpPr>
          <p:nvPr>
            <p:ph type="body" idx="1"/>
          </p:nvPr>
        </p:nvSpPr>
        <p:spPr>
          <a:xfrm>
            <a:off x="376850" y="987925"/>
            <a:ext cx="8310000" cy="3607500"/>
          </a:xfrm>
          <a:prstGeom prst="rect">
            <a:avLst/>
          </a:prstGeom>
        </p:spPr>
        <p:txBody>
          <a:bodyPr spcFirstLastPara="1" wrap="square" lIns="68575" tIns="34275" rIns="68575" bIns="34275" anchor="t" anchorCtr="0">
            <a:normAutofit lnSpcReduction="20000"/>
          </a:bodyPr>
          <a:lstStyle/>
          <a:p>
            <a:pPr marL="0" lvl="0" indent="0" algn="l" rtl="0">
              <a:spcBef>
                <a:spcPts val="0"/>
              </a:spcBef>
              <a:spcAft>
                <a:spcPts val="0"/>
              </a:spcAft>
              <a:buNone/>
            </a:pPr>
            <a:r>
              <a:rPr lang="en-US" b="1"/>
              <a:t>bias → underfitting; too simple</a:t>
            </a:r>
            <a:endParaRPr b="1"/>
          </a:p>
          <a:p>
            <a:pPr marL="0" lvl="0" indent="0" algn="l" rtl="0">
              <a:spcBef>
                <a:spcPts val="0"/>
              </a:spcBef>
              <a:spcAft>
                <a:spcPts val="0"/>
              </a:spcAft>
              <a:buNone/>
            </a:pPr>
            <a:r>
              <a:rPr lang="en-US"/>
              <a:t>boosting</a:t>
            </a:r>
            <a:endParaRPr/>
          </a:p>
          <a:p>
            <a:pPr marL="0" lvl="0" indent="0" algn="l" rtl="0">
              <a:spcBef>
                <a:spcPts val="0"/>
              </a:spcBef>
              <a:spcAft>
                <a:spcPts val="0"/>
              </a:spcAft>
              <a:buNone/>
            </a:pPr>
            <a:r>
              <a:rPr lang="en-US"/>
              <a:t>change kernel</a:t>
            </a:r>
            <a:endParaRPr/>
          </a:p>
          <a:p>
            <a:pPr marL="0" lvl="0" indent="0" algn="l" rtl="0">
              <a:spcBef>
                <a:spcPts val="0"/>
              </a:spcBef>
              <a:spcAft>
                <a:spcPts val="0"/>
              </a:spcAft>
              <a:buNone/>
            </a:pPr>
            <a:endParaRPr/>
          </a:p>
          <a:p>
            <a:pPr marL="0" lvl="0" indent="0" algn="l" rtl="0">
              <a:spcBef>
                <a:spcPts val="0"/>
              </a:spcBef>
              <a:spcAft>
                <a:spcPts val="0"/>
              </a:spcAft>
              <a:buNone/>
            </a:pPr>
            <a:r>
              <a:rPr lang="en-US" b="1"/>
              <a:t>variance → overfitting</a:t>
            </a:r>
            <a:endParaRPr b="1"/>
          </a:p>
          <a:p>
            <a:pPr marL="0" lvl="0" indent="0" algn="l" rtl="0">
              <a:spcBef>
                <a:spcPts val="0"/>
              </a:spcBef>
              <a:spcAft>
                <a:spcPts val="0"/>
              </a:spcAft>
              <a:buNone/>
            </a:pPr>
            <a:r>
              <a:rPr lang="en-US"/>
              <a:t>bagging</a:t>
            </a:r>
            <a:endParaRPr/>
          </a:p>
          <a:p>
            <a:pPr marL="0" lvl="0" indent="0" algn="l" rtl="0">
              <a:spcBef>
                <a:spcPts val="0"/>
              </a:spcBef>
              <a:spcAft>
                <a:spcPts val="0"/>
              </a:spcAft>
              <a:buNone/>
            </a:pPr>
            <a:r>
              <a:rPr lang="en-US"/>
              <a:t>learning rate</a:t>
            </a:r>
            <a:endParaRPr/>
          </a:p>
          <a:p>
            <a:pPr marL="0" lvl="0" indent="0" algn="l" rtl="0">
              <a:spcBef>
                <a:spcPts val="0"/>
              </a:spcBef>
              <a:spcAft>
                <a:spcPts val="0"/>
              </a:spcAft>
              <a:buNone/>
            </a:pPr>
            <a:r>
              <a:rPr lang="en-US"/>
              <a:t>regularisation</a:t>
            </a:r>
            <a:endParaRPr/>
          </a:p>
          <a:p>
            <a:pPr marL="0" lvl="0" indent="0" algn="l" rtl="0">
              <a:spcBef>
                <a:spcPts val="0"/>
              </a:spcBef>
              <a:spcAft>
                <a:spcPts val="0"/>
              </a:spcAft>
              <a:buNone/>
            </a:pPr>
            <a:r>
              <a:rPr lang="en-US"/>
              <a:t>	lasso, ridge regression (feature selection, weight reduction)</a:t>
            </a:r>
            <a:endParaRPr/>
          </a:p>
        </p:txBody>
      </p:sp>
      <p:sp>
        <p:nvSpPr>
          <p:cNvPr id="358" name="Google Shape;358;p39"/>
          <p:cNvSpPr/>
          <p:nvPr/>
        </p:nvSpPr>
        <p:spPr>
          <a:xfrm>
            <a:off x="5238650" y="2730300"/>
            <a:ext cx="3231900" cy="906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Open Sans"/>
                <a:ea typeface="Open Sans"/>
                <a:cs typeface="Open Sans"/>
                <a:sym typeface="Open Sans"/>
              </a:rPr>
              <a:t>adding more data (rows)</a:t>
            </a:r>
            <a:endParaRPr sz="2000">
              <a:latin typeface="Open Sans"/>
              <a:ea typeface="Open Sans"/>
              <a:cs typeface="Open Sans"/>
              <a:sym typeface="Open Sans"/>
            </a:endParaRPr>
          </a:p>
        </p:txBody>
      </p:sp>
      <p:sp>
        <p:nvSpPr>
          <p:cNvPr id="359" name="Google Shape;359;p39"/>
          <p:cNvSpPr/>
          <p:nvPr/>
        </p:nvSpPr>
        <p:spPr>
          <a:xfrm>
            <a:off x="5454650" y="987925"/>
            <a:ext cx="3231900" cy="906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a:latin typeface="Open Sans"/>
                <a:ea typeface="Open Sans"/>
                <a:cs typeface="Open Sans"/>
                <a:sym typeface="Open Sans"/>
              </a:rPr>
              <a:t>adding more features (columns)</a:t>
            </a:r>
            <a:endParaRPr sz="2000">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40"/>
          <p:cNvPicPr preferRelativeResize="0"/>
          <p:nvPr/>
        </p:nvPicPr>
        <p:blipFill>
          <a:blip r:embed="rId3">
            <a:alphaModFix/>
          </a:blip>
          <a:stretch>
            <a:fillRect/>
          </a:stretch>
        </p:blipFill>
        <p:spPr>
          <a:xfrm>
            <a:off x="2551814" y="389830"/>
            <a:ext cx="1911393" cy="4363840"/>
          </a:xfrm>
          <a:prstGeom prst="rect">
            <a:avLst/>
          </a:prstGeom>
          <a:noFill/>
          <a:ln>
            <a:noFill/>
          </a:ln>
        </p:spPr>
      </p:pic>
    </p:spTree>
  </p:cSld>
  <p:clrMapOvr>
    <a:masterClrMapping/>
  </p:clrMapOvr>
</p:sld>
</file>

<file path=ppt/theme/theme1.xml><?xml version="1.0" encoding="utf-8"?>
<a:theme xmlns:a="http://schemas.openxmlformats.org/drawingml/2006/main" name="NTU SCTP">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2865</Words>
  <Application>Microsoft Office PowerPoint</Application>
  <PresentationFormat>On-screen Show (16:9)</PresentationFormat>
  <Paragraphs>284</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Open Sans Light</vt:lpstr>
      <vt:lpstr>Open Sans</vt:lpstr>
      <vt:lpstr>Consolas</vt:lpstr>
      <vt:lpstr>Calibri</vt:lpstr>
      <vt:lpstr>Arial</vt:lpstr>
      <vt:lpstr>NTU SCTP</vt:lpstr>
      <vt:lpstr>PowerPoint Presentation</vt:lpstr>
      <vt:lpstr>Agenda</vt:lpstr>
      <vt:lpstr>C3.2 Predicting HDB Prices: 3 Models &amp; Streamlit Deployment</vt:lpstr>
      <vt:lpstr>PowerPoint Presentation</vt:lpstr>
      <vt:lpstr>PowerPoint Presentation</vt:lpstr>
      <vt:lpstr>PowerPoint Presentation</vt:lpstr>
      <vt:lpstr>Linear vs Logistic regression</vt:lpstr>
      <vt:lpstr>PowerPoint Presentation</vt:lpstr>
      <vt:lpstr>PowerPoint Presentation</vt:lpstr>
      <vt:lpstr>PowerPoint Presentation</vt:lpstr>
      <vt:lpstr>PowerPoint Presentation</vt:lpstr>
      <vt:lpstr>PowerPoint Presentation</vt:lpstr>
      <vt:lpstr>Dataset: HDB resale prices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 in Discord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Ian Liew</cp:lastModifiedBy>
  <cp:revision>1</cp:revision>
  <dcterms:modified xsi:type="dcterms:W3CDTF">2026-10-03T08:15:08Z</dcterms:modified>
</cp:coreProperties>
</file>